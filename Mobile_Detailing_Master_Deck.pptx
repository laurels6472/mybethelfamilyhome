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6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7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8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d5824df0-c9e5-dc00-6350-6f5603af034b}">
          <p14:sldIdLst>
            <p14:sldId id="256"/>
            <p14:sldId id="257"/>
            <p14:sldId id="258"/>
          </p14:sldIdLst>
        </p14:section>
        <p14:section name="Pricing" id="{815d4b4c-51c1-744f-0254-9dca03ca0343}">
          <p14:sldIdLst>
            <p14:sldId id="259"/>
            <p14:sldId id="260"/>
            <p14:sldId id="261"/>
            <p14:sldId id="262"/>
            <p14:sldId id="263"/>
          </p14:sldIdLst>
        </p14:section>
        <p14:section name="Startup budget" id="{0989198b-ad6b-71b3-ad71-2a8984f0b587}">
          <p14:sldIdLst>
            <p14:sldId id="264"/>
            <p14:sldId id="265"/>
          </p14:sldIdLst>
        </p14:section>
        <p14:section name="Equipment" id="{8e57a634-735e-8a2a-c5fd-30ac3dde565d}">
          <p14:sldIdLst>
            <p14:sldId id="266"/>
            <p14:sldId id="267"/>
            <p14:sldId id="268"/>
            <p14:sldId id="269"/>
          </p14:sldIdLst>
        </p14:section>
        <p14:section name="Operations" id="{bc8c02f3-fd19-d5cf-8d80-26a216b436e5}">
          <p14:sldIdLst>
            <p14:sldId id="270"/>
          </p14:sldIdLst>
        </p14:section>
        <p14:section name="Financials" id="{c2a66e8b-0f7b-a2ca-5f24-f478a16246d4}">
          <p14:sldIdLst>
            <p14:sldId id="271"/>
            <p14:sldId id="272"/>
            <p14:sldId id="273"/>
            <p14:sldId id="274"/>
            <p14:sldId id="275"/>
          </p14:sldIdLst>
        </p14:section>
        <p14:section name="Risk &amp; compliance" id="{8c02a54e-8a94-01dd-25b6-eb25aae0842f}">
          <p14:sldIdLst>
            <p14:sldId id="276"/>
            <p14:sldId id="277"/>
          </p14:sldIdLst>
        </p14:section>
        <p14:section name="Go to market" id="{aedd3515-9359-7495-463c-a6257785ac87}">
          <p14:sldIdLst>
            <p14:sldId id="278"/>
            <p14:sldId id="279"/>
            <p14:sldId id="280"/>
            <p14:sldId id="281"/>
          </p14:sldIdLst>
        </p14:section>
        <p14:section name="Shopping list" id="{25214884-269f-ce49-4e98-cdde983b6fcd}">
          <p14:sldIdLst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</p14:sldIdLst>
        </p14:section>
        <p14:section name="Appendix" id="{73119211-ff13-40db-817c-41c7a4ad95ad}">
          <p14:sldIdLst>
            <p14:sldId id="29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per job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B27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Essential Wash</c:v>
                  </c:pt>
                  <c:pt idx="1">
                    <c:v>Interior Reset</c:v>
                  </c:pt>
                  <c:pt idx="2">
                    <c:v>Signature Full</c:v>
                  </c:pt>
                  <c:pt idx="3">
                    <c:v>Deep Restore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58</c:v>
                </c:pt>
                <c:pt idx="1">
                  <c:v>116</c:v>
                </c:pt>
                <c:pt idx="2">
                  <c:v>169</c:v>
                </c:pt>
                <c:pt idx="3">
                  <c:v>303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1" i="0" strike="noStrike" sz="1400" u="none">
                  <a:solidFill>
                    <a:srgbClr val="1B27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E7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E7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 budget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7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Core equipment</c:v>
                  </c:pt>
                  <c:pt idx="1">
                    <c:v>Wastewater kit</c:v>
                  </c:pt>
                  <c:pt idx="2">
                    <c:v>Added gear &amp; safety</c:v>
                  </c:pt>
                  <c:pt idx="3">
                    <c:v>Chemicals, tools, towels, storage</c:v>
                  </c:pt>
                  <c:pt idx="4">
                    <c:v>Cash cushion</c:v>
                  </c:pt>
                  <c:pt idx="5">
                    <c:v>Website &amp; branding</c:v>
                  </c:pt>
                  <c:pt idx="6">
                    <c:v>8% tax / shipping buffer</c:v>
                  </c:pt>
                  <c:pt idx="7">
                    <c:v>LLC + city license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7800</c:v>
                </c:pt>
                <c:pt idx="1">
                  <c:v>1902</c:v>
                </c:pt>
                <c:pt idx="2">
                  <c:v>1873</c:v>
                </c:pt>
                <c:pt idx="3">
                  <c:v>1506</c:v>
                </c:pt>
                <c:pt idx="4">
                  <c:v>4000</c:v>
                </c:pt>
                <c:pt idx="5">
                  <c:v>1500</c:v>
                </c:pt>
                <c:pt idx="6">
                  <c:v>1046</c:v>
                </c:pt>
                <c:pt idx="7">
                  <c:v>260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7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F6E7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E7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Equipment spend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1" i="0" strike="noStrike" sz="1500" u="none">
                    <a:solidFill>
                      <a:srgbClr val="1B27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Value build (blueprint)</c:v>
                  </c:pt>
                  <c:pt idx="1">
                    <c:v>Premium build (plan, base)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4508</c:v>
                </c:pt>
                <c:pt idx="1">
                  <c:v>13081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1" i="0" strike="noStrike" sz="1500" u="none">
                  <a:solidFill>
                    <a:srgbClr val="1B27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F6E7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E7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cost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7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Marketing</c:v>
                  </c:pt>
                  <c:pt idx="1">
                    <c:v>Insurance</c:v>
                  </c:pt>
                  <c:pt idx="2">
                    <c:v>Accounting</c:v>
                  </c:pt>
                  <c:pt idx="3">
                    <c:v>Vehicle maintenance</c:v>
                  </c:pt>
                  <c:pt idx="4">
                    <c:v>Miscellaneous</c:v>
                  </c:pt>
                  <c:pt idx="5">
                    <c:v>Software</c:v>
                  </c:pt>
                  <c:pt idx="6">
                    <c:v>Phone</c:v>
                  </c:pt>
                  <c:pt idx="7">
                    <c:v>Water / waste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200</c:v>
                </c:pt>
                <c:pt idx="1">
                  <c:v>190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90</c:v>
                </c:pt>
                <c:pt idx="6">
                  <c:v>60</c:v>
                </c:pt>
                <c:pt idx="7">
                  <c:v>40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7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F6E7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E7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733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B2733"/>
                </a:solidFill>
                <a:latin typeface="Calibri"/>
              </a:rPr>
              <a:t>Jobs per week needed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Jobs per week to cover fixed costs</c:v>
                </c:pt>
              </c:strCache>
            </c:strRef>
          </c:tx>
          <c:spPr>
            <a:solidFill>
              <a:srgbClr val="1BAF7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7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Lean</c:v>
                  </c:pt>
                  <c:pt idx="1">
                    <c:v>Base</c:v>
                  </c:pt>
                  <c:pt idx="2">
                    <c:v>Full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1.8</c:v>
                </c:pt>
                <c:pt idx="1">
                  <c:v>1.4</c:v>
                </c:pt>
                <c:pt idx="2">
                  <c:v>1.1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Jobs per week for $3,000 owner pay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7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Lean</c:v>
                  </c:pt>
                  <c:pt idx="1">
                    <c:v>Base</c:v>
                  </c:pt>
                  <c:pt idx="2">
                    <c:v>Full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7.7</c:v>
                </c:pt>
                <c:pt idx="1">
                  <c:v>6.1</c:v>
                </c:pt>
                <c:pt idx="2">
                  <c:v>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B27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E7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E7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73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</c:v>
                </c:pt>
              </c:strCache>
            </c:strRef>
          </c:tx>
          <c:spPr>
            <a:solidFill>
              <a:srgbClr val="2A78D6"/>
            </a:solidFill>
            <a:ln w="3810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733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1212</c:v>
                </c:pt>
                <c:pt idx="1">
                  <c:v>1819</c:v>
                </c:pt>
                <c:pt idx="2">
                  <c:v>2425</c:v>
                </c:pt>
                <c:pt idx="3">
                  <c:v>3031</c:v>
                </c:pt>
                <c:pt idx="4">
                  <c:v>3637</c:v>
                </c:pt>
                <c:pt idx="5">
                  <c:v>4243</c:v>
                </c:pt>
                <c:pt idx="6">
                  <c:v>4850</c:v>
                </c:pt>
                <c:pt idx="7">
                  <c:v>4850</c:v>
                </c:pt>
                <c:pt idx="8">
                  <c:v>4850</c:v>
                </c:pt>
                <c:pt idx="9">
                  <c:v>4850</c:v>
                </c:pt>
                <c:pt idx="10">
                  <c:v>4850</c:v>
                </c:pt>
                <c:pt idx="11">
                  <c:v>4850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1BAF7A"/>
            </a:solidFill>
            <a:ln w="38100" cap="flat">
              <a:solidFill>
                <a:srgbClr val="1BAF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733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BAF7A"/>
              </a:solidFill>
              <a:ln w="9525" cap="flat">
                <a:solidFill>
                  <a:srgbClr val="1BAF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2273</c:v>
                </c:pt>
                <c:pt idx="1">
                  <c:v>3789</c:v>
                </c:pt>
                <c:pt idx="2">
                  <c:v>5304</c:v>
                </c:pt>
                <c:pt idx="3">
                  <c:v>6820</c:v>
                </c:pt>
                <c:pt idx="4">
                  <c:v>8335</c:v>
                </c:pt>
                <c:pt idx="5">
                  <c:v>9093</c:v>
                </c:pt>
                <c:pt idx="6">
                  <c:v>9851</c:v>
                </c:pt>
                <c:pt idx="7">
                  <c:v>10608</c:v>
                </c:pt>
                <c:pt idx="8">
                  <c:v>10608</c:v>
                </c:pt>
                <c:pt idx="9">
                  <c:v>10608</c:v>
                </c:pt>
                <c:pt idx="10">
                  <c:v>10608</c:v>
                </c:pt>
                <c:pt idx="11">
                  <c:v>10608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High</c:v>
                </c:pt>
              </c:strCache>
            </c:strRef>
          </c:tx>
          <c:spPr>
            <a:solidFill>
              <a:srgbClr val="EB6834"/>
            </a:solidFill>
            <a:ln w="38100" cap="flat">
              <a:solidFill>
                <a:srgbClr val="EB68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733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3637</c:v>
                </c:pt>
                <c:pt idx="1">
                  <c:v>6365</c:v>
                </c:pt>
                <c:pt idx="2">
                  <c:v>9093</c:v>
                </c:pt>
                <c:pt idx="3">
                  <c:v>11821</c:v>
                </c:pt>
                <c:pt idx="4">
                  <c:v>14549</c:v>
                </c:pt>
                <c:pt idx="5">
                  <c:v>16367</c:v>
                </c:pt>
                <c:pt idx="6">
                  <c:v>18186</c:v>
                </c:pt>
                <c:pt idx="7">
                  <c:v>20005</c:v>
                </c:pt>
                <c:pt idx="8">
                  <c:v>20005</c:v>
                </c:pt>
                <c:pt idx="9">
                  <c:v>20005</c:v>
                </c:pt>
                <c:pt idx="10">
                  <c:v>20005</c:v>
                </c:pt>
                <c:pt idx="11">
                  <c:v>20005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733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E7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DDE4EB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E7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73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7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Low</c:v>
                  </c:pt>
                  <c:pt idx="1">
                    <c:v>Base</c:v>
                  </c:pt>
                  <c:pt idx="2">
                    <c:v>High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45467</c:v>
                </c:pt>
                <c:pt idx="1">
                  <c:v>98505</c:v>
                </c:pt>
                <c:pt idx="2">
                  <c:v>180043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rgbClr val="1BAF7A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7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Low</c:v>
                  </c:pt>
                  <c:pt idx="1">
                    <c:v>Base</c:v>
                  </c:pt>
                  <c:pt idx="2">
                    <c:v>High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27025</c:v>
                </c:pt>
                <c:pt idx="1">
                  <c:v>58358</c:v>
                </c:pt>
                <c:pt idx="2">
                  <c:v>112465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7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E7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E7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73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</c:v>
                </c:pt>
              </c:strCache>
            </c:strRef>
          </c:tx>
          <c:spPr>
            <a:solidFill>
              <a:srgbClr val="2A78D6"/>
            </a:solidFill>
            <a:ln w="3810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733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-14919</c:v>
                </c:pt>
                <c:pt idx="1">
                  <c:v>-14295</c:v>
                </c:pt>
                <c:pt idx="2">
                  <c:v>-13171</c:v>
                </c:pt>
                <c:pt idx="3">
                  <c:v>-11545</c:v>
                </c:pt>
                <c:pt idx="4">
                  <c:v>-9418</c:v>
                </c:pt>
                <c:pt idx="5">
                  <c:v>-6790</c:v>
                </c:pt>
                <c:pt idx="6">
                  <c:v>-3661</c:v>
                </c:pt>
                <c:pt idx="7">
                  <c:v>-531</c:v>
                </c:pt>
                <c:pt idx="8">
                  <c:v>2598</c:v>
                </c:pt>
                <c:pt idx="9">
                  <c:v>5727</c:v>
                </c:pt>
                <c:pt idx="10">
                  <c:v>8856</c:v>
                </c:pt>
                <c:pt idx="11">
                  <c:v>11986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1BAF7A"/>
            </a:solidFill>
            <a:ln w="38100" cap="flat">
              <a:solidFill>
                <a:srgbClr val="1BAF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733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BAF7A"/>
              </a:solidFill>
              <a:ln w="9525" cap="flat">
                <a:solidFill>
                  <a:srgbClr val="1BAF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-18858</c:v>
                </c:pt>
                <c:pt idx="1">
                  <c:v>-16558</c:v>
                </c:pt>
                <c:pt idx="2">
                  <c:v>-12984</c:v>
                </c:pt>
                <c:pt idx="3">
                  <c:v>-9049</c:v>
                </c:pt>
                <c:pt idx="4">
                  <c:v>-4267</c:v>
                </c:pt>
                <c:pt idx="5">
                  <c:v>1029</c:v>
                </c:pt>
                <c:pt idx="6">
                  <c:v>6841</c:v>
                </c:pt>
                <c:pt idx="7">
                  <c:v>13167</c:v>
                </c:pt>
                <c:pt idx="8">
                  <c:v>19493</c:v>
                </c:pt>
                <c:pt idx="9">
                  <c:v>25819</c:v>
                </c:pt>
                <c:pt idx="10">
                  <c:v>32146</c:v>
                </c:pt>
                <c:pt idx="11">
                  <c:v>38472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High</c:v>
                </c:pt>
              </c:strCache>
            </c:strRef>
          </c:tx>
          <c:spPr>
            <a:solidFill>
              <a:srgbClr val="EB6834"/>
            </a:solidFill>
            <a:ln w="38100" cap="flat">
              <a:solidFill>
                <a:srgbClr val="EB68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733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-22568</c:v>
                </c:pt>
                <c:pt idx="1">
                  <c:v>-18050</c:v>
                </c:pt>
                <c:pt idx="2">
                  <c:v>-12230</c:v>
                </c:pt>
                <c:pt idx="3">
                  <c:v>-5189</c:v>
                </c:pt>
                <c:pt idx="4">
                  <c:v>3679</c:v>
                </c:pt>
                <c:pt idx="5">
                  <c:v>13766</c:v>
                </c:pt>
                <c:pt idx="6">
                  <c:v>25072</c:v>
                </c:pt>
                <c:pt idx="7">
                  <c:v>37596</c:v>
                </c:pt>
                <c:pt idx="8">
                  <c:v>50120</c:v>
                </c:pt>
                <c:pt idx="9">
                  <c:v>62644</c:v>
                </c:pt>
                <c:pt idx="10">
                  <c:v>75168</c:v>
                </c:pt>
                <c:pt idx="11">
                  <c:v>87692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733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E7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DE4EB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E7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73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this deck pulls together the business plan, the equipment blueprint and the van reference document into one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E&amp;L Services &amp; Sales  |  Mobile Detailing Plan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E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E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martinsoutdoor.com/products/honda-eu3000is-generator" TargetMode="External"/><Relationship Id="rId4" Type="http://schemas.openxmlformats.org/officeDocument/2006/relationships/hyperlink" Target="https://tractorsupply.com/tsc/product/simpson-powershot-series-ps60869-4000-psi-@-35-gpm-gas-pressure-washer-powered-by-honda" TargetMode="External"/><Relationship Id="rId6" Type="http://schemas.openxmlformats.org/officeDocument/2006/relationships/hyperlink" Target="https://carsupplieswarehouse.com/products/mytee-grand-prix-hp120-automotive-heated-detail-extractor" TargetMode="External"/><Relationship Id="rId8" Type="http://schemas.openxmlformats.org/officeDocument/2006/relationships/hyperlink" Target="https://www.detailking.com/products/100-gallon-plastic-water-tank" TargetMode="External"/><Relationship Id="rId10" Type="http://schemas.openxmlformats.org/officeDocument/2006/relationships/hyperlink" Target="https://adamspolishes.com/products/adam-s-foam-cannon-ultra-foam-combo" TargetMode="External"/><Relationship Id="rId12" Type="http://schemas.openxmlformats.org/officeDocument/2006/relationships/hyperlink" Target="https://www.harborfreight.com/automotive/ramps/loading-ramps.html" TargetMode="External"/><Relationship Id="rId17" Type="http://schemas.openxmlformats.org/officeDocument/2006/relationships/hyperlink" Target="https://slickdeals.net/f/19753284-23-qt-bougerv-portable-12v-car-refrigerator-152-free-s-h" TargetMode="External"/><Relationship Id="rId1" Type="http://schemas.openxmlformats.org/officeDocument/2006/relationships/image" Target="../media/image-28-1.png"/><Relationship Id="rId3" Type="http://schemas.openxmlformats.org/officeDocument/2006/relationships/image" Target="../media/image-28-2.png"/><Relationship Id="rId5" Type="http://schemas.openxmlformats.org/officeDocument/2006/relationships/image" Target="../media/image-28-3.png"/><Relationship Id="rId7" Type="http://schemas.openxmlformats.org/officeDocument/2006/relationships/image" Target="../media/image-28-4.png"/><Relationship Id="rId9" Type="http://schemas.openxmlformats.org/officeDocument/2006/relationships/image" Target="../media/image-28-5.png"/><Relationship Id="rId11" Type="http://schemas.openxmlformats.org/officeDocument/2006/relationships/image" Target="../media/image-28-6.png"/><Relationship Id="rId13" Type="http://schemas.openxmlformats.org/officeDocument/2006/relationships/image" Target="../media/image-28-7.png"/><Relationship Id="rId14" Type="http://schemas.openxmlformats.org/officeDocument/2006/relationships/image" Target="../media/image-28-8.png"/><Relationship Id="rId15" Type="http://schemas.openxmlformats.org/officeDocument/2006/relationships/image" Target="../media/image-28-9.png"/><Relationship Id="rId16" Type="http://schemas.openxmlformats.org/officeDocument/2006/relationships/image" Target="../media/image-28-10.png"/><Relationship Id="rId18" Type="http://schemas.openxmlformats.org/officeDocument/2006/relationships/slideLayout" Target="../slideLayouts/slideLayout2.xml"/><Relationship Id="rId19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etailking.com/collections/water-containment-reclamation" TargetMode="External"/><Relationship Id="rId4" Type="http://schemas.openxmlformats.org/officeDocument/2006/relationships/hyperlink" Target="https://homedepot.com/p/Husky-16-Gal-6-5-Peak-HP-Poly-Cart-Design-Wet-Dry-Vac-with-a-Cartridge-Filter-Hose-and-Accessories-AT18621P-16A/323107484" TargetMode="External"/><Relationship Id="rId6" Type="http://schemas.openxmlformats.org/officeDocument/2006/relationships/hyperlink" Target="https://www.detailking.com/products/100-gallon-plastic-water-tank" TargetMode="External"/><Relationship Id="rId1" Type="http://schemas.openxmlformats.org/officeDocument/2006/relationships/image" Target="../media/image-29-1.png"/><Relationship Id="rId3" Type="http://schemas.openxmlformats.org/officeDocument/2006/relationships/image" Target="../media/image-29-2.png"/><Relationship Id="rId5" Type="http://schemas.openxmlformats.org/officeDocument/2006/relationships/image" Target="../media/image-29-3.png"/><Relationship Id="rId7" Type="http://schemas.openxmlformats.org/officeDocument/2006/relationships/image" Target="../media/image-29-4.png"/><Relationship Id="rId8" Type="http://schemas.openxmlformats.org/officeDocument/2006/relationships/image" Target="../media/image-29-5.png"/><Relationship Id="rId9" Type="http://schemas.openxmlformats.org/officeDocument/2006/relationships/image" Target="../media/image-29-6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homedepot.com/p/Husky-16-Gal-6-5-Peak-HP-Poly-Cart-Design-Wet-Dry-Vac-with-a-Cartridge-Filter-Hose-and-Accessories-AT18621P-16A/323107484" TargetMode="External"/><Relationship Id="rId4" Type="http://schemas.openxmlformats.org/officeDocument/2006/relationships/hyperlink" Target="https://www.detailking.com/shop-by-brand/vapamore/" TargetMode="External"/><Relationship Id="rId6" Type="http://schemas.openxmlformats.org/officeDocument/2006/relationships/hyperlink" Target="https://slickdeals.net/f/17009452-ridgid-6-gal-portable-electric-pancake-air-compressor-99" TargetMode="External"/><Relationship Id="rId8" Type="http://schemas.openxmlformats.org/officeDocument/2006/relationships/hyperlink" Target="https://www.homedepot.com/p/EAGLE-PEAK-10-ft-x-10-ft-Heavy-Duty-Commercial-Pop-Up-Instant-Canopy-Tent-White-CP100-01-AZ/320648786" TargetMode="External"/><Relationship Id="rId10" Type="http://schemas.openxmlformats.org/officeDocument/2006/relationships/hyperlink" Target="https://www.doitbest.com/product/545345/southwire-50-ft-12-3-heavy-duty-gfci-in-line-extension-cord-545345" TargetMode="External"/><Relationship Id="rId12" Type="http://schemas.openxmlformats.org/officeDocument/2006/relationships/hyperlink" Target="https://www.homedepot.com/p/Kidde-Pro-340-Rechargeable-3-A-40-B-C-Class-ABC-5-5-lb-Fire-Extinguisher-21030916-21030916/100558332" TargetMode="External"/><Relationship Id="rId14" Type="http://schemas.openxmlformats.org/officeDocument/2006/relationships/hyperlink" Target="https://electricbargainstores.com/products/kidde-kn-cob-b" TargetMode="External"/><Relationship Id="rId16" Type="http://schemas.openxmlformats.org/officeDocument/2006/relationships/hyperlink" Target="https://www.walmart.com/ip/3M-Industrical-Construction-First-Aid-Kit-118-Pieces-OSHA-ANSI-Compliant/23086447" TargetMode="External"/><Relationship Id="rId1" Type="http://schemas.openxmlformats.org/officeDocument/2006/relationships/image" Target="../media/image-30-1.png"/><Relationship Id="rId3" Type="http://schemas.openxmlformats.org/officeDocument/2006/relationships/image" Target="../media/image-30-2.png"/><Relationship Id="rId5" Type="http://schemas.openxmlformats.org/officeDocument/2006/relationships/image" Target="../media/image-30-3.png"/><Relationship Id="rId7" Type="http://schemas.openxmlformats.org/officeDocument/2006/relationships/image" Target="../media/image-30-4.png"/><Relationship Id="rId9" Type="http://schemas.openxmlformats.org/officeDocument/2006/relationships/image" Target="../media/image-30-5.png"/><Relationship Id="rId11" Type="http://schemas.openxmlformats.org/officeDocument/2006/relationships/image" Target="../media/image-30-6.png"/><Relationship Id="rId13" Type="http://schemas.openxmlformats.org/officeDocument/2006/relationships/image" Target="../media/image-30-7.png"/><Relationship Id="rId15" Type="http://schemas.openxmlformats.org/officeDocument/2006/relationships/image" Target="../media/image-30-8.png"/><Relationship Id="rId17" Type="http://schemas.openxmlformats.org/officeDocument/2006/relationships/image" Target="../media/image-30-9.png"/><Relationship Id="rId18" Type="http://schemas.openxmlformats.org/officeDocument/2006/relationships/slideLayout" Target="../slideLayouts/slideLayout2.xml"/><Relationship Id="rId19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etailking.com/shop-by-brand/detail-king-products/detail-king-exterior-products/" TargetMode="External"/><Relationship Id="rId1" Type="http://schemas.openxmlformats.org/officeDocument/2006/relationships/image" Target="../media/image-31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image" Target="../media/image-32-6.png"/><Relationship Id="rId7" Type="http://schemas.openxmlformats.org/officeDocument/2006/relationships/image" Target="../media/image-32-7.png"/><Relationship Id="rId8" Type="http://schemas.openxmlformats.org/officeDocument/2006/relationships/image" Target="../media/image-32-8.png"/><Relationship Id="rId9" Type="http://schemas.openxmlformats.org/officeDocument/2006/relationships/image" Target="../media/image-32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image" Target="../media/image-3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1463040"/>
            <a:ext cx="6400800" cy="6400800"/>
          </a:xfrm>
          <a:prstGeom prst="ellipse">
            <a:avLst/>
          </a:prstGeom>
          <a:solidFill>
            <a:srgbClr val="0E7C86">
              <a:alpha val="25000"/>
            </a:srgbClr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3291840"/>
            <a:ext cx="4206240" cy="4206240"/>
          </a:xfrm>
          <a:prstGeom prst="ellipse">
            <a:avLst/>
          </a:prstGeom>
          <a:solidFill>
            <a:srgbClr val="2A78D6">
              <a:alpha val="20000"/>
            </a:srgbClr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DETAILING SERVICE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2880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bring the showroom finish to the driveway.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8862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plan, pricing, equipment and launch roadmap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 Hill, SC and the greater York County / Charlotte area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943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E&amp;L Services &amp; Sales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589520" y="4658868"/>
            <a:ext cx="4023360" cy="704088"/>
          </a:xfrm>
          <a:prstGeom prst="roundRect">
            <a:avLst>
              <a:gd name="adj" fmla="val 28571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44484" y="4206240"/>
            <a:ext cx="2112264" cy="523037"/>
          </a:xfrm>
          <a:prstGeom prst="trapezoid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45652" y="4286707"/>
            <a:ext cx="804672" cy="362102"/>
          </a:xfrm>
          <a:prstGeom prst="trapezoid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50908" y="4286707"/>
            <a:ext cx="804672" cy="362102"/>
          </a:xfrm>
          <a:prstGeom prst="trapezoid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43316" y="5061204"/>
            <a:ext cx="603504" cy="603504"/>
          </a:xfrm>
          <a:prstGeom prst="ellipse">
            <a:avLst/>
          </a:prstGeom>
          <a:solidFill>
            <a:srgbClr val="0B1F3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24367" y="5242255"/>
            <a:ext cx="241402" cy="241402"/>
          </a:xfrm>
          <a:prstGeom prst="ellipse">
            <a:avLst/>
          </a:prstGeom>
          <a:solidFill>
            <a:srgbClr val="9FB0C0"/>
          </a:solidFill>
          <a:ln w="12700">
            <a:solidFill>
              <a:srgbClr val="9FB0C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55580" y="5061204"/>
            <a:ext cx="603504" cy="603504"/>
          </a:xfrm>
          <a:prstGeom prst="ellipse">
            <a:avLst/>
          </a:prstGeom>
          <a:solidFill>
            <a:srgbClr val="0B1F3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36631" y="5242255"/>
            <a:ext cx="241402" cy="241402"/>
          </a:xfrm>
          <a:prstGeom prst="ellipse">
            <a:avLst/>
          </a:prstGeom>
          <a:solidFill>
            <a:srgbClr val="9FB0C0"/>
          </a:solidFill>
          <a:ln w="12700">
            <a:solidFill>
              <a:srgbClr val="9FB0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18900000">
            <a:off x="8229600" y="3383280"/>
            <a:ext cx="201168" cy="292608"/>
          </a:xfrm>
          <a:prstGeom prst="teardrop">
            <a:avLst/>
          </a:prstGeom>
          <a:solidFill>
            <a:srgbClr val="7FD6E0"/>
          </a:solidFill>
          <a:ln w="12700">
            <a:solidFill>
              <a:srgbClr val="7FD6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18900000">
            <a:off x="8915400" y="3703320"/>
            <a:ext cx="201168" cy="292608"/>
          </a:xfrm>
          <a:prstGeom prst="teardrop">
            <a:avLst/>
          </a:prstGeom>
          <a:solidFill>
            <a:srgbClr val="7FD6E0"/>
          </a:solidFill>
          <a:ln w="12700">
            <a:solidFill>
              <a:srgbClr val="7FD6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18900000">
            <a:off x="9601200" y="3383280"/>
            <a:ext cx="201168" cy="292608"/>
          </a:xfrm>
          <a:prstGeom prst="teardrop">
            <a:avLst/>
          </a:prstGeom>
          <a:solidFill>
            <a:srgbClr val="7FD6E0"/>
          </a:solidFill>
          <a:ln w="12700">
            <a:solidFill>
              <a:srgbClr val="7FD6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18900000">
            <a:off x="10287000" y="3703320"/>
            <a:ext cx="201168" cy="292608"/>
          </a:xfrm>
          <a:prstGeom prst="teardrop">
            <a:avLst/>
          </a:prstGeom>
          <a:solidFill>
            <a:srgbClr val="7FD6E0"/>
          </a:solidFill>
          <a:ln w="12700">
            <a:solidFill>
              <a:srgbClr val="7FD6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18900000">
            <a:off x="10972800" y="3383280"/>
            <a:ext cx="201168" cy="292608"/>
          </a:xfrm>
          <a:prstGeom prst="teardrop">
            <a:avLst/>
          </a:prstGeom>
          <a:solidFill>
            <a:srgbClr val="7FD6E0"/>
          </a:solidFill>
          <a:ln w="12700">
            <a:solidFill>
              <a:srgbClr val="7FD6E0"/>
            </a:solidFill>
            <a:prstDash val="solid"/>
          </a:ln>
        </p:spPr>
      </p:sp>
      <p:sp>
        <p:nvSpPr>
          <p:cNvPr id="2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plan in one page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low-overhead mobile business that can pay back its startup cost in about six months at a base-case pace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664208"/>
            <a:ext cx="24688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$19,887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404872"/>
            <a:ext cx="2377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Base-case startup cash (range $15K to $25K)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0" y="15544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74720" y="1664208"/>
            <a:ext cx="24688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 6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404872"/>
            <a:ext cx="2377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Base-case payback (month 9 low, month 5 high)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09360" y="1664208"/>
            <a:ext cx="24688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$58,358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2404872"/>
            <a:ext cx="2377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Base-case year-1 profit before owner pay &amp; tax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52560" y="15544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144000" y="1664208"/>
            <a:ext cx="24231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$140-$250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9189720" y="2404872"/>
            <a:ext cx="23317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ticket for a full interior or full detail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00400"/>
            <a:ext cx="111099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342900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566160"/>
            <a:ext cx="274320" cy="27432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554480" y="34290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serve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554480" y="372160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Homeowners and families, plus small fleets (contractors, property managers, dealers) who want a vendor that shows up on schedule.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355080" y="342900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566160"/>
            <a:ext cx="274320" cy="27432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7086600" y="34290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earn</a:t>
            </a:r>
            <a:endParaRPr lang="en-US" sz="1600" dirty="0"/>
          </a:p>
        </p:txBody>
      </p:sp>
      <p:sp>
        <p:nvSpPr>
          <p:cNvPr id="24" name="Text 20"/>
          <p:cNvSpPr txBox="1"/>
          <p:nvPr/>
        </p:nvSpPr>
        <p:spPr>
          <a:xfrm>
            <a:off x="7086600" y="372160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packages from $75 to $500, add-ons, monthly maintenance plans, and per-visit fleet rates from $45.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822960" y="48463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983480"/>
            <a:ext cx="274320" cy="27432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554480" y="4846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600" dirty="0"/>
          </a:p>
        </p:txBody>
      </p:sp>
      <p:sp>
        <p:nvSpPr>
          <p:cNvPr id="28" name="Text 23"/>
          <p:cNvSpPr txBox="1"/>
          <p:nvPr/>
        </p:nvSpPr>
        <p:spPr>
          <a:xfrm>
            <a:off x="1554480" y="513892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costs are only $880 a month, so about 1.4 jobs a week covers them. 6 jobs a week pays $3,000 a month in owner pay.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6355080" y="48463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983480"/>
            <a:ext cx="274320" cy="27432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7086600" y="4846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we start</a:t>
            </a:r>
            <a:endParaRPr lang="en-US" sz="1600" dirty="0"/>
          </a:p>
        </p:txBody>
      </p:sp>
      <p:sp>
        <p:nvSpPr>
          <p:cNvPr id="32" name="Text 26"/>
          <p:cNvSpPr txBox="1"/>
          <p:nvPr/>
        </p:nvSpPr>
        <p:spPr>
          <a:xfrm>
            <a:off x="7086600" y="513892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arrives around Nov 11, 2026. Soft launch the week of Dec 7. Public launch Jan 4, 2027.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E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work and who we serve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 Hill is the base; the service area reaches roughly 100 miles for the right accounts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0352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area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97280" y="2148840"/>
            <a:ext cx="2743200" cy="2743200"/>
          </a:xfrm>
          <a:prstGeom prst="ellipse">
            <a:avLst/>
          </a:prstGeom>
          <a:solidFill>
            <a:srgbClr val="D9EEF0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00200" y="2651760"/>
            <a:ext cx="1737360" cy="1737360"/>
          </a:xfrm>
          <a:prstGeom prst="ellipse">
            <a:avLst/>
          </a:prstGeom>
          <a:solidFill>
            <a:srgbClr val="A8DADF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94560" y="3246120"/>
            <a:ext cx="548640" cy="548640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1720" y="33832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828800" y="3840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 Hill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069080" y="2331720"/>
            <a:ext cx="201168" cy="20116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343400" y="219456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Core: Rock Hill, Fort Mill, Clover, York (no travel fee)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069080" y="3017520"/>
            <a:ext cx="201168" cy="20116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343400" y="288036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Extended: Chester County and south Charlotte (travel fee $15 to $40)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069080" y="3703320"/>
            <a:ext cx="201168" cy="201168"/>
          </a:xfrm>
          <a:prstGeom prst="ellipse">
            <a:avLst/>
          </a:prstGeom>
          <a:solidFill>
            <a:srgbClr val="6B7A8C"/>
          </a:solidFill>
          <a:ln w="12700">
            <a:solidFill>
              <a:srgbClr val="6B7A8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43400" y="356616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Reach: Mecklenburg County and beyond for fleets (quoted)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5029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Illustrative, not to scale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53492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Insurers and local rules still decide the practical radius. Chester County and Mecklenburg County business-license rules are unconfirmed.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080760" y="1554480"/>
            <a:ext cx="55778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309360" y="1965960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380" y="2125980"/>
            <a:ext cx="320040" cy="32004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7132320" y="16642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</a:t>
            </a:r>
            <a:endParaRPr lang="en-US" sz="1700" dirty="0"/>
          </a:p>
        </p:txBody>
      </p:sp>
      <p:sp>
        <p:nvSpPr>
          <p:cNvPr id="23" name="Text 19"/>
          <p:cNvSpPr txBox="1"/>
          <p:nvPr/>
        </p:nvSpPr>
        <p:spPr>
          <a:xfrm>
            <a:off x="7132320" y="201168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Busy families, commuters and pet owners who want a deep clean without giving up a Saturday. Best fit for Interior Reset and Signature Full Detail.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6080760" y="3154680"/>
            <a:ext cx="55778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309360" y="3566160"/>
            <a:ext cx="640080" cy="64008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380" y="3726180"/>
            <a:ext cx="320040" cy="32004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7132320" y="32644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and commercial</a:t>
            </a:r>
            <a:endParaRPr lang="en-US" sz="1700" dirty="0"/>
          </a:p>
        </p:txBody>
      </p:sp>
      <p:sp>
        <p:nvSpPr>
          <p:cNvPr id="28" name="Text 23"/>
          <p:cNvSpPr txBox="1"/>
          <p:nvPr/>
        </p:nvSpPr>
        <p:spPr>
          <a:xfrm>
            <a:off x="7132320" y="361188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Contractors, property managers and dealers. Recurring per-visit pricing from $45 builds steady, predictable revenue.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6080760" y="4754880"/>
            <a:ext cx="55778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6309360" y="5166360"/>
            <a:ext cx="640080" cy="64008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9380" y="5326380"/>
            <a:ext cx="320040" cy="32004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7132320" y="48646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members</a:t>
            </a:r>
            <a:endParaRPr lang="en-US" sz="1700" dirty="0"/>
          </a:p>
        </p:txBody>
      </p:sp>
      <p:sp>
        <p:nvSpPr>
          <p:cNvPr id="33" name="Text 27"/>
          <p:cNvSpPr txBox="1"/>
          <p:nvPr/>
        </p:nvSpPr>
        <p:spPr>
          <a:xfrm>
            <a:off x="7132320" y="521208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plans from $65 turn one-time jobs into a base of repeat customers (3-month minimum).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E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packages, priced by vehicle size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menu: customers choose the level, size sets the price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78638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554480"/>
                <a:gridCol w="1554480"/>
                <a:gridCol w="15544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SUV / Truck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3-row / Van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Essential Wash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6E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 wash for cars that stay clean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Interior Reset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6E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clean of seats, carpet, dash and glass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Signature Full Detail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6E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Interior and exterior in one visit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Restore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6E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Heavily used or neglected vehicles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$425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686800" y="1508760"/>
            <a:ext cx="2971800" cy="4023360"/>
          </a:xfrm>
          <a:prstGeom prst="roundRect">
            <a:avLst>
              <a:gd name="adj" fmla="val 2462"/>
            </a:avLst>
          </a:prstGeom>
          <a:solidFill>
            <a:srgbClr val="0B1F33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915400" y="1645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 rules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915400" y="2057400"/>
            <a:ext cx="2560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 minimum ticket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fee $15 to $40 beyond about 15 miles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Heavy-soil surcharge $50 to $100 (no biohazard work)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surcharge $25 to $75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weather reschedules on monthly plans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22960" y="5376672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33856" y="5212080"/>
            <a:ext cx="768096" cy="190195"/>
          </a:xfrm>
          <a:prstGeom prst="trapezoid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07008" y="5241341"/>
            <a:ext cx="292608" cy="131674"/>
          </a:xfrm>
          <a:prstGeom prst="trapezoid">
            <a:avLst/>
          </a:prstGeom>
          <a:solidFill>
            <a:srgbClr val="F4F8FB"/>
          </a:solidFill>
          <a:ln w="12700">
            <a:solidFill>
              <a:srgbClr val="F4F8F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536192" y="5241341"/>
            <a:ext cx="292608" cy="131674"/>
          </a:xfrm>
          <a:prstGeom prst="trapezoid">
            <a:avLst/>
          </a:prstGeom>
          <a:solidFill>
            <a:srgbClr val="F4F8FB"/>
          </a:solidFill>
          <a:ln w="12700">
            <a:solidFill>
              <a:srgbClr val="F4F8F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60704" y="5522976"/>
            <a:ext cx="219456" cy="219456"/>
          </a:xfrm>
          <a:prstGeom prst="ellipse">
            <a:avLst/>
          </a:prstGeom>
          <a:solidFill>
            <a:srgbClr val="0B1F3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26541" y="5588813"/>
            <a:ext cx="87782" cy="87782"/>
          </a:xfrm>
          <a:prstGeom prst="ellipse">
            <a:avLst/>
          </a:prstGeom>
          <a:solidFill>
            <a:srgbClr val="9FB0C0"/>
          </a:solidFill>
          <a:ln w="12700">
            <a:solidFill>
              <a:srgbClr val="9FB0C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828800" y="5522976"/>
            <a:ext cx="219456" cy="219456"/>
          </a:xfrm>
          <a:prstGeom prst="ellipse">
            <a:avLst/>
          </a:prstGeom>
          <a:solidFill>
            <a:srgbClr val="0B1F3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894637" y="5588813"/>
            <a:ext cx="87782" cy="87782"/>
          </a:xfrm>
          <a:prstGeom prst="ellipse">
            <a:avLst/>
          </a:prstGeom>
          <a:solidFill>
            <a:srgbClr val="9FB0C0"/>
          </a:solidFill>
          <a:ln w="12700">
            <a:solidFill>
              <a:srgbClr val="9FB0C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651760" y="52578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Full Detail is the package to feature: best mix of price and profit per hour.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686800" y="56692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contents are summarized; final scope wording goes on the booking page.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E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package actually earns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per car-size job after materials, card fees and fuel/wear (helper labor counted separately)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69494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508760"/>
            <a:ext cx="3886200" cy="475488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001000" y="1645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Costs we count on every job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001000" y="205740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Materials: 8% of the ticket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fees: 2.9%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and van wear: $9 per job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Helper: $17/hr for 2.5 hrs plus 10% payroll cost, about $46.75 per job, once volume needs one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001000" y="457200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one Deep Restore earns as much as five Essential Washes. Steer customers up the menu.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E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Add-ons and monthly plans raise the average ticket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Extras are quoted by condition; plans create repeat revenue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8640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Add-ons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2103120"/>
            <a:ext cx="457200" cy="4572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2217420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2103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Carpet / seat extraction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023360" y="2103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 to $120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77240" y="2743200"/>
            <a:ext cx="457200" cy="4572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285750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17320" y="2743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hair removal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023360" y="2743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 to $75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777240" y="3383280"/>
            <a:ext cx="457200" cy="4572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349758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17320" y="3383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Clay bar + sealant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4023360" y="3383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 to $125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777240" y="4023360"/>
            <a:ext cx="457200" cy="4572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" y="4137660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417320" y="4023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bay detail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4023360" y="4023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 to $150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777240" y="4663440"/>
            <a:ext cx="457200" cy="45720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" y="4777740"/>
            <a:ext cx="228600" cy="2286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417320" y="4663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Heavy-soil surcharge</a:t>
            </a:r>
            <a:endParaRPr lang="en-US" sz="1400" dirty="0"/>
          </a:p>
        </p:txBody>
      </p:sp>
      <p:sp>
        <p:nvSpPr>
          <p:cNvPr id="25" name="Text 18"/>
          <p:cNvSpPr txBox="1"/>
          <p:nvPr/>
        </p:nvSpPr>
        <p:spPr>
          <a:xfrm>
            <a:off x="4023360" y="4663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 to $100</a:t>
            </a:r>
            <a:endParaRPr lang="en-US" sz="1500" dirty="0"/>
          </a:p>
        </p:txBody>
      </p:sp>
      <p:sp>
        <p:nvSpPr>
          <p:cNvPr id="26" name="Shape 19"/>
          <p:cNvSpPr/>
          <p:nvPr/>
        </p:nvSpPr>
        <p:spPr>
          <a:xfrm>
            <a:off x="777240" y="5303520"/>
            <a:ext cx="457200" cy="45720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540" y="5417820"/>
            <a:ext cx="228600" cy="22860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417320" y="5303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surcharge</a:t>
            </a:r>
            <a:endParaRPr lang="en-US" sz="1400" dirty="0"/>
          </a:p>
        </p:txBody>
      </p:sp>
      <p:sp>
        <p:nvSpPr>
          <p:cNvPr id="29" name="Text 21"/>
          <p:cNvSpPr txBox="1"/>
          <p:nvPr/>
        </p:nvSpPr>
        <p:spPr>
          <a:xfrm>
            <a:off x="4023360" y="5303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 to $75</a:t>
            </a:r>
            <a:endParaRPr lang="en-US" sz="1500" dirty="0"/>
          </a:p>
        </p:txBody>
      </p:sp>
      <p:sp>
        <p:nvSpPr>
          <p:cNvPr id="30" name="Text 22"/>
          <p:cNvSpPr txBox="1"/>
          <p:nvPr/>
        </p:nvSpPr>
        <p:spPr>
          <a:xfrm>
            <a:off x="6309360" y="15544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plans (3-month minimum)</a:t>
            </a:r>
            <a:endParaRPr lang="en-US" sz="1800" dirty="0"/>
          </a:p>
        </p:txBody>
      </p:sp>
      <p:sp>
        <p:nvSpPr>
          <p:cNvPr id="31" name="Shape 23"/>
          <p:cNvSpPr/>
          <p:nvPr/>
        </p:nvSpPr>
        <p:spPr>
          <a:xfrm>
            <a:off x="6309360" y="196596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6309360" y="2057400"/>
            <a:ext cx="91440" cy="1051560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33" name="Text 25"/>
          <p:cNvSpPr txBox="1"/>
          <p:nvPr/>
        </p:nvSpPr>
        <p:spPr>
          <a:xfrm>
            <a:off x="6583680" y="2103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</a:t>
            </a:r>
            <a:endParaRPr lang="en-US" sz="1800" dirty="0"/>
          </a:p>
        </p:txBody>
      </p:sp>
      <p:sp>
        <p:nvSpPr>
          <p:cNvPr id="34" name="Text 26"/>
          <p:cNvSpPr txBox="1"/>
          <p:nvPr/>
        </p:nvSpPr>
        <p:spPr>
          <a:xfrm>
            <a:off x="6583680" y="2468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$65 car / $85 SUV</a:t>
            </a:r>
            <a:endParaRPr lang="en-US" sz="1500" dirty="0"/>
          </a:p>
        </p:txBody>
      </p:sp>
      <p:sp>
        <p:nvSpPr>
          <p:cNvPr id="35" name="Text 27"/>
          <p:cNvSpPr txBox="1"/>
          <p:nvPr/>
        </p:nvSpPr>
        <p:spPr>
          <a:xfrm>
            <a:off x="6583680" y="27706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exterior upkeep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6309360" y="333756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6309360" y="3429000"/>
            <a:ext cx="91440" cy="105156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6583680" y="3474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Plus</a:t>
            </a:r>
            <a:endParaRPr lang="en-US" sz="1800" dirty="0"/>
          </a:p>
        </p:txBody>
      </p:sp>
      <p:sp>
        <p:nvSpPr>
          <p:cNvPr id="39" name="Text 31"/>
          <p:cNvSpPr txBox="1"/>
          <p:nvPr/>
        </p:nvSpPr>
        <p:spPr>
          <a:xfrm>
            <a:off x="6583680" y="3840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$130 car / $165 SUV</a:t>
            </a:r>
            <a:endParaRPr lang="en-US" sz="1500" dirty="0"/>
          </a:p>
        </p:txBody>
      </p:sp>
      <p:sp>
        <p:nvSpPr>
          <p:cNvPr id="40" name="Text 32"/>
          <p:cNvSpPr txBox="1"/>
          <p:nvPr/>
        </p:nvSpPr>
        <p:spPr>
          <a:xfrm>
            <a:off x="6583680" y="41422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with interior care</a:t>
            </a:r>
            <a:endParaRPr lang="en-US" sz="1200" dirty="0"/>
          </a:p>
        </p:txBody>
      </p:sp>
      <p:sp>
        <p:nvSpPr>
          <p:cNvPr id="41" name="Shape 33"/>
          <p:cNvSpPr/>
          <p:nvPr/>
        </p:nvSpPr>
        <p:spPr>
          <a:xfrm>
            <a:off x="6309360" y="470916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6309360" y="4800600"/>
            <a:ext cx="91440" cy="1051560"/>
          </a:xfrm>
          <a:prstGeom prst="rect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43" name="Text 35"/>
          <p:cNvSpPr txBox="1"/>
          <p:nvPr/>
        </p:nvSpPr>
        <p:spPr>
          <a:xfrm>
            <a:off x="6583680" y="4846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Fresh</a:t>
            </a:r>
            <a:endParaRPr lang="en-US" sz="1800" dirty="0"/>
          </a:p>
        </p:txBody>
      </p:sp>
      <p:sp>
        <p:nvSpPr>
          <p:cNvPr id="44" name="Text 36"/>
          <p:cNvSpPr txBox="1"/>
          <p:nvPr/>
        </p:nvSpPr>
        <p:spPr>
          <a:xfrm>
            <a:off x="6583680" y="5212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$105 car / $130 SUV</a:t>
            </a:r>
            <a:endParaRPr lang="en-US" sz="1500" dirty="0"/>
          </a:p>
        </p:txBody>
      </p:sp>
      <p:sp>
        <p:nvSpPr>
          <p:cNvPr id="45" name="Text 37"/>
          <p:cNvSpPr txBox="1"/>
          <p:nvPr/>
        </p:nvSpPr>
        <p:spPr>
          <a:xfrm>
            <a:off x="6583680" y="55138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 freshness on a schedule</a:t>
            </a:r>
            <a:endParaRPr lang="en-US" sz="1200" dirty="0"/>
          </a:p>
        </p:txBody>
      </p:sp>
      <p:sp>
        <p:nvSpPr>
          <p:cNvPr id="46" name="Text 38"/>
          <p:cNvSpPr txBox="1"/>
          <p:nvPr/>
        </p:nvSpPr>
        <p:spPr>
          <a:xfrm>
            <a:off x="6309360" y="60350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month. Free weather reschedules included.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E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Fleet pricing and the launch offer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Per-visit rates keep fleet accounts simple to quote and easy to renew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2860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1737360"/>
            <a:ext cx="640080" cy="64008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1620" y="18973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5146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$45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/ visit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017520" y="1554480"/>
            <a:ext cx="22860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840480" y="1737360"/>
            <a:ext cx="640080" cy="64008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0" y="189738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017520" y="25146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$65</a:t>
            </a:r>
            <a:endParaRPr lang="en-US" sz="3600" dirty="0"/>
          </a:p>
        </p:txBody>
      </p:sp>
      <p:sp>
        <p:nvSpPr>
          <p:cNvPr id="13" name="Text 9"/>
          <p:cNvSpPr txBox="1"/>
          <p:nvPr/>
        </p:nvSpPr>
        <p:spPr>
          <a:xfrm>
            <a:off x="301752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/ SUV / visit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0" y="1554480"/>
            <a:ext cx="22860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09360" y="1737360"/>
            <a:ext cx="640080" cy="64008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380" y="189738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486400" y="25146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$85</a:t>
            </a:r>
            <a:endParaRPr lang="en-US" sz="36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/ box truck / visit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4069080"/>
            <a:ext cx="73152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5"/>
          <p:cNvSpPr txBox="1"/>
          <p:nvPr/>
        </p:nvSpPr>
        <p:spPr>
          <a:xfrm>
            <a:off x="822960" y="42062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Plus: +$30 per visit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822960" y="4617720"/>
            <a:ext cx="6766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upgraded fleet tier, priced at the standard per-visit rate plus $30. Fleet accounts run on a standing schedule so routes stay efficient and revenue stays predictable.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8138160" y="1554480"/>
            <a:ext cx="3520440" cy="4709160"/>
          </a:xfrm>
          <a:prstGeom prst="roundRect">
            <a:avLst>
              <a:gd name="adj" fmla="val 2597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18"/>
          <p:cNvSpPr txBox="1"/>
          <p:nvPr/>
        </p:nvSpPr>
        <p:spPr>
          <a:xfrm>
            <a:off x="8321040" y="17373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OFFER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8321040" y="214884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 off</a:t>
            </a:r>
            <a:endParaRPr lang="en-US" sz="5400" dirty="0"/>
          </a:p>
        </p:txBody>
      </p:sp>
      <p:sp>
        <p:nvSpPr>
          <p:cNvPr id="25" name="Text 20"/>
          <p:cNvSpPr txBox="1"/>
          <p:nvPr/>
        </p:nvSpPr>
        <p:spPr>
          <a:xfrm>
            <a:off x="8321040" y="310896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Interior Reset or Signature Full Detail</a:t>
            </a:r>
            <a:endParaRPr lang="en-US" sz="1700" dirty="0"/>
          </a:p>
        </p:txBody>
      </p:sp>
      <p:sp>
        <p:nvSpPr>
          <p:cNvPr id="26" name="Text 21"/>
          <p:cNvSpPr txBox="1"/>
          <p:nvPr/>
        </p:nvSpPr>
        <p:spPr>
          <a:xfrm>
            <a:off x="8321040" y="4206240"/>
            <a:ext cx="3154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Customers: first 25 only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 deposit holds the slot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 a friend who books: $20 credit for you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Earns the first reviews and photos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E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typical week looks like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jobs a week is a realistic early-stage week, not a stretch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2651760" cy="91440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7830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43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Wash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383280" y="155448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554480"/>
            <a:ext cx="2651760" cy="9144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17830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743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 Reset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155448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554480"/>
            <a:ext cx="2651760" cy="91440"/>
          </a:xfrm>
          <a:prstGeom prst="rect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17830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743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Full Detail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052560" y="155448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052560" y="1554480"/>
            <a:ext cx="2651760" cy="91440"/>
          </a:xfrm>
          <a:prstGeom prst="rect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052560" y="17830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19" name="Text 17"/>
          <p:cNvSpPr txBox="1"/>
          <p:nvPr/>
        </p:nvSpPr>
        <p:spPr>
          <a:xfrm>
            <a:off x="9052560" y="2743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Restore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374904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40080" y="3858768"/>
            <a:ext cx="338328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$1,403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4826203"/>
            <a:ext cx="329184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in the sample week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297680" y="374904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4389120" y="3858768"/>
            <a:ext cx="338328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$4,200</a:t>
            </a:r>
            <a:endParaRPr lang="en-US" sz="3400" dirty="0"/>
          </a:p>
        </p:txBody>
      </p:sp>
      <p:sp>
        <p:nvSpPr>
          <p:cNvPr id="25" name="Text 23"/>
          <p:cNvSpPr txBox="1"/>
          <p:nvPr/>
        </p:nvSpPr>
        <p:spPr>
          <a:xfrm>
            <a:off x="4434840" y="4826203"/>
            <a:ext cx="329184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profit after the $880 fixed costs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046720" y="374904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8229600" y="3840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matters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0" y="420624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Essential Washes bring in less profit than one Deep Restore. The goal is to book the top of the menu.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sample uses the plan's standard price mix and weeks of 4.33 per month. Profit shown before owner pay and tax.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E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Startup cash: $15K lean, $20K base, $25K full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Base-case budget by category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713232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955280" y="155448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046720" y="1664208"/>
            <a:ext cx="35204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$15,041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2404872"/>
            <a:ext cx="34290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Lean: used or value-tier gear, minimal branding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955280" y="310896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046720" y="3218688"/>
            <a:ext cx="35204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$19,887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3959352"/>
            <a:ext cx="34290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recommended starting point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955280" y="466344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046720" y="4773168"/>
            <a:ext cx="35204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$24,773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8092440" y="5513832"/>
            <a:ext cx="34290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Full: premium gear, bigger cushion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172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about $290 for personal protective equipment (from the blueprint); it is not in these totals.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E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detail across the three scenarios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line carried into the cash model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749808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28016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equipment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$7,231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$7,800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$8,303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Wastewater kit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$1,902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$2,492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Added gear &amp; safety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$1,873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$3,002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Chemicals, tools, towels, storage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$1,956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 tax / shipping buffer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$1,046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LLC + city license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Website &amp; branding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cushion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startup cash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$15,041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$19,887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$24,773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321040" y="1508760"/>
            <a:ext cx="3337560" cy="457200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549640" y="169164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1828800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35440" y="1691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covered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8549640" y="2423160"/>
            <a:ext cx="29260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Wastewater containment is priced and in the budget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vac, steamer, compressor, canopy, GFCI cords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extinguisher, CO alarm, first aid kit, cones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Chemicals itemized, not a single lump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 (+$290) is the one gap still to add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E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build the rig: Value or Premium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blueprint's budget build versus the plan's fully itemized build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56692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39496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Value: hardware $3,625 + consumables $593 + PPE $290. Premium: core equipment $7,800 + wastewater $1,902 + added gear $1,873 + chemicals and supplies $1,506.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492240" y="1508760"/>
            <a:ext cx="2560320" cy="47091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144000" y="1508760"/>
            <a:ext cx="2514600" cy="47091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675120" y="1645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build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675120" y="2103120"/>
            <a:ext cx="22402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Fastest, cheapest start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proving demand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prices are unverified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 out wastewater containment and some safety gear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9326880" y="1645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build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9326880" y="2103120"/>
            <a:ext cx="2194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prices (Dultmeier, Detail King, Home Depot and others)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wastewater kit and safety gear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fleet-grade reliability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path: start Value, add Premium pieces from profit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E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van: a self-contained workshop on wheels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crew seats up front, equipment behind a safety wall we install. Illustrative top view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768096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2011680"/>
            <a:ext cx="310896" cy="1737360"/>
          </a:xfrm>
          <a:prstGeom prst="rect">
            <a:avLst/>
          </a:prstGeom>
          <a:solidFill>
            <a:srgbClr val="0E7C86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2011680"/>
            <a:ext cx="3108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 DOOR SHELVES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3931920"/>
            <a:ext cx="310896" cy="1737360"/>
          </a:xfrm>
          <a:prstGeom prst="rect">
            <a:avLst/>
          </a:prstGeom>
          <a:solidFill>
            <a:srgbClr val="0E7C86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3931920"/>
            <a:ext cx="3108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 DOOR SHELVES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05840" y="1828800"/>
            <a:ext cx="7132320" cy="4023360"/>
          </a:xfrm>
          <a:prstGeom prst="roundRect">
            <a:avLst>
              <a:gd name="adj" fmla="val 7955"/>
            </a:avLst>
          </a:prstGeom>
          <a:solidFill>
            <a:srgbClr val="EEF3F7"/>
          </a:solidFill>
          <a:ln w="31750">
            <a:solidFill>
              <a:srgbClr val="0B1F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34440" y="2057400"/>
            <a:ext cx="1325880" cy="1051560"/>
          </a:xfrm>
          <a:prstGeom prst="roundRect">
            <a:avLst>
              <a:gd name="adj" fmla="val 6957"/>
            </a:avLst>
          </a:prstGeom>
          <a:solidFill>
            <a:srgbClr val="2A78D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34440" y="2057400"/>
            <a:ext cx="132588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100-gal water tank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51760" y="2057400"/>
            <a:ext cx="1325880" cy="1051560"/>
          </a:xfrm>
          <a:prstGeom prst="roundRect">
            <a:avLst>
              <a:gd name="adj" fmla="val 6957"/>
            </a:avLst>
          </a:prstGeom>
          <a:solidFill>
            <a:srgbClr val="EB683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51760" y="2057400"/>
            <a:ext cx="132588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069080" y="2057400"/>
            <a:ext cx="1325880" cy="1051560"/>
          </a:xfrm>
          <a:prstGeom prst="roundRect">
            <a:avLst>
              <a:gd name="adj" fmla="val 6957"/>
            </a:avLst>
          </a:prstGeom>
          <a:solidFill>
            <a:srgbClr val="6B7A8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069080" y="2057400"/>
            <a:ext cx="132588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compressor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234440" y="3246120"/>
            <a:ext cx="1325880" cy="1051560"/>
          </a:xfrm>
          <a:prstGeom prst="roundRect">
            <a:avLst>
              <a:gd name="adj" fmla="val 6957"/>
            </a:avLst>
          </a:prstGeom>
          <a:solidFill>
            <a:srgbClr val="0E7C8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234440" y="3246120"/>
            <a:ext cx="132588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Steamer + extractor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651760" y="3246120"/>
            <a:ext cx="1325880" cy="1051560"/>
          </a:xfrm>
          <a:prstGeom prst="roundRect">
            <a:avLst>
              <a:gd name="adj" fmla="val 6957"/>
            </a:avLst>
          </a:prstGeom>
          <a:solidFill>
            <a:srgbClr val="1BAF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651760" y="3246120"/>
            <a:ext cx="132588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Wastewater recovery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069080" y="3246120"/>
            <a:ext cx="1325880" cy="1051560"/>
          </a:xfrm>
          <a:prstGeom prst="roundRect">
            <a:avLst>
              <a:gd name="adj" fmla="val 6957"/>
            </a:avLst>
          </a:prstGeom>
          <a:solidFill>
            <a:srgbClr val="F2B3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069080" y="3246120"/>
            <a:ext cx="132588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shelf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234440" y="4434840"/>
            <a:ext cx="1325880" cy="1051560"/>
          </a:xfrm>
          <a:prstGeom prst="roundRect">
            <a:avLst>
              <a:gd name="adj" fmla="val 6957"/>
            </a:avLst>
          </a:prstGeom>
          <a:solidFill>
            <a:srgbClr val="9B5DE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234440" y="4434840"/>
            <a:ext cx="132588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Towel bins (9 colors)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651760" y="4434840"/>
            <a:ext cx="1325880" cy="1051560"/>
          </a:xfrm>
          <a:prstGeom prst="roundRect">
            <a:avLst>
              <a:gd name="adj" fmla="val 6957"/>
            </a:avLst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651760" y="4434840"/>
            <a:ext cx="132588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kit + extinguisher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069080" y="4434840"/>
            <a:ext cx="1325880" cy="1051560"/>
          </a:xfrm>
          <a:prstGeom prst="roundRect">
            <a:avLst>
              <a:gd name="adj" fmla="val 6957"/>
            </a:avLst>
          </a:prstGeom>
          <a:solidFill>
            <a:srgbClr val="9FB0C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069080" y="4434840"/>
            <a:ext cx="132588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Hoses, mats, cones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234440" y="55321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bay. Door shelves: grab-and-go bottles, trash-bag roll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532120" y="1920240"/>
            <a:ext cx="274320" cy="3840480"/>
          </a:xfrm>
          <a:prstGeom prst="rect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532120" y="1920240"/>
            <a:ext cx="274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WALL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852160" y="19385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cabin: 6 seats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360920" y="2514600"/>
            <a:ext cx="548640" cy="868680"/>
          </a:xfrm>
          <a:prstGeom prst="roundRect">
            <a:avLst>
              <a:gd name="adj" fmla="val 16667"/>
            </a:avLst>
          </a:prstGeom>
          <a:solidFill>
            <a:srgbClr val="0B1F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360920" y="251460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360920" y="4251960"/>
            <a:ext cx="548640" cy="868680"/>
          </a:xfrm>
          <a:prstGeom prst="roundRect">
            <a:avLst>
              <a:gd name="adj" fmla="val 16667"/>
            </a:avLst>
          </a:prstGeom>
          <a:solidFill>
            <a:srgbClr val="0B1F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360920" y="425196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629400" y="2514600"/>
            <a:ext cx="548640" cy="868680"/>
          </a:xfrm>
          <a:prstGeom prst="roundRect">
            <a:avLst>
              <a:gd name="adj" fmla="val 16667"/>
            </a:avLst>
          </a:prstGeom>
          <a:solidFill>
            <a:srgbClr val="0B1F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629400" y="251460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629400" y="4251960"/>
            <a:ext cx="548640" cy="868680"/>
          </a:xfrm>
          <a:prstGeom prst="roundRect">
            <a:avLst>
              <a:gd name="adj" fmla="val 16667"/>
            </a:avLst>
          </a:prstGeom>
          <a:solidFill>
            <a:srgbClr val="0B1F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629400" y="425196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897880" y="2514600"/>
            <a:ext cx="548640" cy="868680"/>
          </a:xfrm>
          <a:prstGeom prst="roundRect">
            <a:avLst>
              <a:gd name="adj" fmla="val 16667"/>
            </a:avLst>
          </a:prstGeom>
          <a:solidFill>
            <a:srgbClr val="0B1F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897880" y="251460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897880" y="4251960"/>
            <a:ext cx="548640" cy="868680"/>
          </a:xfrm>
          <a:prstGeom prst="roundRect">
            <a:avLst>
              <a:gd name="adj" fmla="val 16667"/>
            </a:avLst>
          </a:prstGeom>
          <a:solidFill>
            <a:srgbClr val="0B1F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897880" y="425196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7315200" y="5394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458200" y="150876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595360" y="178308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4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1920240"/>
            <a:ext cx="274320" cy="274320"/>
          </a:xfrm>
          <a:prstGeom prst="rect">
            <a:avLst/>
          </a:prstGeom>
        </p:spPr>
      </p:pic>
      <p:sp>
        <p:nvSpPr>
          <p:cNvPr id="48" name="Text 45"/>
          <p:cNvSpPr txBox="1"/>
          <p:nvPr/>
        </p:nvSpPr>
        <p:spPr>
          <a:xfrm>
            <a:off x="928116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water</a:t>
            </a:r>
            <a:endParaRPr lang="en-US" sz="1500" dirty="0"/>
          </a:p>
        </p:txBody>
      </p:sp>
      <p:sp>
        <p:nvSpPr>
          <p:cNvPr id="49" name="Text 46"/>
          <p:cNvSpPr txBox="1"/>
          <p:nvPr/>
        </p:nvSpPr>
        <p:spPr>
          <a:xfrm>
            <a:off x="9281160" y="192938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100-gallon tank means no customer spigot needed</a:t>
            </a:r>
            <a:endParaRPr lang="en-US" sz="1150" dirty="0"/>
          </a:p>
        </p:txBody>
      </p:sp>
      <p:sp>
        <p:nvSpPr>
          <p:cNvPr id="50" name="Shape 47"/>
          <p:cNvSpPr/>
          <p:nvPr/>
        </p:nvSpPr>
        <p:spPr>
          <a:xfrm>
            <a:off x="8458200" y="2715768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8595360" y="2990088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5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3127248"/>
            <a:ext cx="274320" cy="274320"/>
          </a:xfrm>
          <a:prstGeom prst="rect">
            <a:avLst/>
          </a:prstGeom>
        </p:spPr>
      </p:pic>
      <p:sp>
        <p:nvSpPr>
          <p:cNvPr id="53" name="Text 49"/>
          <p:cNvSpPr txBox="1"/>
          <p:nvPr/>
        </p:nvSpPr>
        <p:spPr>
          <a:xfrm>
            <a:off x="9281160" y="28072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power</a:t>
            </a:r>
            <a:endParaRPr lang="en-US" sz="1500" dirty="0"/>
          </a:p>
        </p:txBody>
      </p:sp>
      <p:sp>
        <p:nvSpPr>
          <p:cNvPr id="54" name="Text 50"/>
          <p:cNvSpPr txBox="1"/>
          <p:nvPr/>
        </p:nvSpPr>
        <p:spPr>
          <a:xfrm>
            <a:off x="9281160" y="313639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Inverter generator, GFCI-protected cords</a:t>
            </a:r>
            <a:endParaRPr lang="en-US" sz="1150" dirty="0"/>
          </a:p>
        </p:txBody>
      </p:sp>
      <p:sp>
        <p:nvSpPr>
          <p:cNvPr id="55" name="Shape 51"/>
          <p:cNvSpPr/>
          <p:nvPr/>
        </p:nvSpPr>
        <p:spPr>
          <a:xfrm>
            <a:off x="8458200" y="3922776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6" name="Shape 52"/>
          <p:cNvSpPr/>
          <p:nvPr/>
        </p:nvSpPr>
        <p:spPr>
          <a:xfrm>
            <a:off x="8595360" y="4197096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5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4334256"/>
            <a:ext cx="274320" cy="274320"/>
          </a:xfrm>
          <a:prstGeom prst="rect">
            <a:avLst/>
          </a:prstGeom>
        </p:spPr>
      </p:pic>
      <p:sp>
        <p:nvSpPr>
          <p:cNvPr id="58" name="Text 53"/>
          <p:cNvSpPr txBox="1"/>
          <p:nvPr/>
        </p:nvSpPr>
        <p:spPr>
          <a:xfrm>
            <a:off x="9281160" y="40142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Contained runoff</a:t>
            </a:r>
            <a:endParaRPr lang="en-US" sz="1500" dirty="0"/>
          </a:p>
        </p:txBody>
      </p:sp>
      <p:sp>
        <p:nvSpPr>
          <p:cNvPr id="59" name="Text 54"/>
          <p:cNvSpPr txBox="1"/>
          <p:nvPr/>
        </p:nvSpPr>
        <p:spPr>
          <a:xfrm>
            <a:off x="9281160" y="4343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 or berm plus recovery so wash water is collected</a:t>
            </a:r>
            <a:endParaRPr lang="en-US" sz="1150" dirty="0"/>
          </a:p>
        </p:txBody>
      </p:sp>
      <p:sp>
        <p:nvSpPr>
          <p:cNvPr id="60" name="Shape 55"/>
          <p:cNvSpPr/>
          <p:nvPr/>
        </p:nvSpPr>
        <p:spPr>
          <a:xfrm>
            <a:off x="8458200" y="5129784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1" name="Shape 56"/>
          <p:cNvSpPr/>
          <p:nvPr/>
        </p:nvSpPr>
        <p:spPr>
          <a:xfrm>
            <a:off x="8595360" y="5404104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6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0" y="5541264"/>
            <a:ext cx="274320" cy="274320"/>
          </a:xfrm>
          <a:prstGeom prst="rect">
            <a:avLst/>
          </a:prstGeom>
        </p:spPr>
      </p:pic>
      <p:sp>
        <p:nvSpPr>
          <p:cNvPr id="63" name="Text 57"/>
          <p:cNvSpPr txBox="1"/>
          <p:nvPr/>
        </p:nvSpPr>
        <p:spPr>
          <a:xfrm>
            <a:off x="9281160" y="522122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built in</a:t>
            </a:r>
            <a:endParaRPr lang="en-US" sz="1500" dirty="0"/>
          </a:p>
        </p:txBody>
      </p:sp>
      <p:sp>
        <p:nvSpPr>
          <p:cNvPr id="64" name="Text 58"/>
          <p:cNvSpPr txBox="1"/>
          <p:nvPr/>
        </p:nvSpPr>
        <p:spPr>
          <a:xfrm>
            <a:off x="9281160" y="555040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between crew and equipment, extinguisher, CO alarm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E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Wastewater: contain, collect, dispose properly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compliance risk, so it is priced into the budget ($1,026 lean to $2,492 full)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468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3040" y="1810512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3060" y="1970532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6060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 on a containment mat or berm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063240" y="2560320"/>
            <a:ext cx="274320" cy="365760"/>
          </a:xfrm>
          <a:prstGeom prst="rightArrow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383280" y="1645920"/>
            <a:ext cx="2468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97680" y="1810512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700" y="1970532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20440" y="26060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 vac / pump pulls runoff off the mat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897880" y="2560320"/>
            <a:ext cx="274320" cy="365760"/>
          </a:xfrm>
          <a:prstGeom prst="rightArrow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17920" y="1645920"/>
            <a:ext cx="2468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32320" y="1810512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2340" y="1970532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55080" y="26060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tank holds the water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8732520" y="2560320"/>
            <a:ext cx="274320" cy="365760"/>
          </a:xfrm>
          <a:prstGeom prst="rightArrow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052560" y="1645920"/>
            <a:ext cx="2468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966960" y="1810512"/>
            <a:ext cx="640080" cy="64008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6980" y="1970532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189720" y="26060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Dispose at an approved location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548640" y="411480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18"/>
          <p:cNvSpPr txBox="1"/>
          <p:nvPr/>
        </p:nvSpPr>
        <p:spPr>
          <a:xfrm>
            <a:off x="777240" y="4206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Kit items priced in the plan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777240" y="457200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 mat or berm, wet vac or pump, collection tank and spill kit, each with a sourced price. Lean kit $1,026; base $1,902; full $2,492.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6309360" y="41148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FF4E5"/>
          </a:solidFill>
          <a:ln w="19050">
            <a:solidFill>
              <a:srgbClr val="F2B33D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492240" y="4279392"/>
            <a:ext cx="502920" cy="50292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7970" y="4405122"/>
            <a:ext cx="251460" cy="25146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7132320" y="427939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Biohazard policy</a:t>
            </a:r>
            <a:endParaRPr lang="en-US" sz="1700" dirty="0"/>
          </a:p>
        </p:txBody>
      </p:sp>
      <p:sp>
        <p:nvSpPr>
          <p:cNvPr id="30" name="Text 23"/>
          <p:cNvSpPr txBox="1"/>
          <p:nvPr/>
        </p:nvSpPr>
        <p:spPr>
          <a:xfrm>
            <a:off x="6492240" y="489204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decline blood, bodily-fluid and biohazard cleanups at launch. They need exposure-control training (OSHA 1910.1030), protective gear and regulated disposal, and many liability policies exclude them. We can revisit once training and written coverage are in place.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E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9-color towel system prevents cross-contamination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Brake dust, leather conditioner and glass cleaner each get their own towels (about 62 to 78 reusable towels in total)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74520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28800" y="1828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bay, grease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560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 8-10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64592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1874520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F06292"/>
          </a:solidFill>
          <a:ln w="12700">
            <a:solidFill>
              <a:srgbClr val="F0629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577840" y="1828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57784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Tires and rims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577840" y="2560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 6-8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64592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0" y="1874520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26880" y="1828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932688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 and mirrors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0" y="2560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 8-10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20040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3429000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828800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828800" y="3749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purpose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828800" y="4114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 10-12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97680" y="320040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80560" y="3429000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577840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5577840" y="3749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interior surfaces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577840" y="4114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 8-10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46720" y="320040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29600" y="3429000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1B2733"/>
          </a:solidFill>
          <a:ln w="12700">
            <a:solidFill>
              <a:srgbClr val="1B27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326880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9326880" y="3749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Leather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326880" y="4114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 6-8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475488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31520" y="4983480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8A97A6"/>
          </a:solidFill>
          <a:ln w="12700">
            <a:solidFill>
              <a:srgbClr val="8A97A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828800" y="4937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1828800" y="5303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and carpet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1828800" y="5669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 6-8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297680" y="475488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480560" y="4983480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7B4DC6"/>
          </a:solidFill>
          <a:ln w="12700">
            <a:solidFill>
              <a:srgbClr val="7B4DC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577840" y="4937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5577840" y="5303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Drying, every job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5577840" y="5669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 10-12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046720" y="475488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229600" y="4983480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50800">
            <a:solidFill>
              <a:srgbClr val="F2B33D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326880" y="4937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/ Orange bin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9326880" y="5303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Disposable, heavy messes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9326880" y="5669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 10-15 per job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E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full detail follows the same five phases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repeatable checklist protects quality and keeps jobs on time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103120" cy="38404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0160" y="1828800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0180" y="19888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6060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Load-out check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10896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leaving the garage: fill the water tank, prime the pump, check generator fuel and compressor pressure, stock towels, bottles and trash bags.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788920" y="1645920"/>
            <a:ext cx="2103120" cy="38404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20440" y="1828800"/>
            <a:ext cx="640080" cy="64008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460" y="198882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880360" y="26060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Wheels &amp; tires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2926080" y="310896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Rinse, iron remover, degreaser, agitate barrels and tires, rinse runoff.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029200" y="1645920"/>
            <a:ext cx="2103120" cy="38404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760720" y="1828800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740" y="198882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120640" y="26060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Exterior wash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5166360" y="310896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Foam, dwell, two-bucket wash, iron fallout, clay bar, safe dry.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7269480" y="1645920"/>
            <a:ext cx="2103120" cy="38404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01000" y="1828800"/>
            <a:ext cx="640080" cy="64008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1020" y="198882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60920" y="26060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Interior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406640" y="310896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Blow out, vacuum, steam dash and trim, extract stains, condition leather.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9509760" y="1645920"/>
            <a:ext cx="2103120" cy="38404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241280" y="1828800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1300" y="1988820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601200" y="26060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Inspection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9646920" y="310896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Sealant, streak-free glass, tire dressing, final walk-around.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Top-to-bottom order and separate towels per phase mean dirt never travels back onto a clean surface.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E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 costs are just $880 a month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overhead is why break-even takes only about one and a half jobs a week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63093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7040880" y="1508760"/>
          <a:ext cx="461772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E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revenue ramps as customers repeat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scenarios: low, base and high job growth over the first 12 months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76809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503920" y="1554480"/>
            <a:ext cx="3154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595360" y="1664208"/>
            <a:ext cx="29718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$45,467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8641080" y="2404872"/>
            <a:ext cx="2880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Low: year-1 revenue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503920" y="3108960"/>
            <a:ext cx="3154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0" y="3218688"/>
            <a:ext cx="29718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$98,505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8641080" y="3959352"/>
            <a:ext cx="2880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year-1 revenue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503920" y="4663440"/>
            <a:ext cx="3154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595360" y="4773168"/>
            <a:ext cx="29718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$180,043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8641080" y="5513832"/>
            <a:ext cx="2880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High: year-1 revenue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E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Year-one revenue and profit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is before owner pay and taxes; helper labor and all fixed costs are already deducted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731520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38160" y="155448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0" y="1664208"/>
            <a:ext cx="33375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$3,129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8275320" y="2404872"/>
            <a:ext cx="32461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Low: month-12 profit per month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138160" y="310896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229600" y="3218688"/>
            <a:ext cx="33375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$6,326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8275320" y="3959352"/>
            <a:ext cx="32461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month-12 profit per month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138160" y="466344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229600" y="4773168"/>
            <a:ext cx="33375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$12,524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8275320" y="5513832"/>
            <a:ext cx="32461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High: month-12 profit per month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E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Cash turns positive in month 5 to 9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cash position after paying the startup costs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76809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503920" y="1554480"/>
            <a:ext cx="3154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595360" y="1664208"/>
            <a:ext cx="29718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 9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8641080" y="2404872"/>
            <a:ext cx="2880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payback (about early Sept 2027)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503920" y="3108960"/>
            <a:ext cx="3154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0" y="3218688"/>
            <a:ext cx="29718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 6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8641080" y="3959352"/>
            <a:ext cx="2880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payback (about early June 2027)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503920" y="4663440"/>
            <a:ext cx="3154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595360" y="4773168"/>
            <a:ext cx="29718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 5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8641080" y="5513832"/>
            <a:ext cx="2880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payback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E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Funding options: self-funded or a small loan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is still undecided; here is what a loan would do to the base case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745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7373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Self-funded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56032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monthly payment, full $58,358 base-case year-1 profit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lean ($15K) and add gear from early profit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to reach premium equipment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172200" y="1554480"/>
            <a:ext cx="548640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0" y="1737360"/>
            <a:ext cx="548640" cy="54864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87452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086600" y="17373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$15,000 loan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6400800" y="256032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11% for 36 months: about $491 a month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Base-case year-1 profit falls to about $52,465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the base build with a safe cash cushion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11% rate is an assumption, not a quote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E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Insurance and licensing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Budgeted at $190 a month; confirm every item with the carrier, city and county before launch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insurance costs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40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liability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22402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$54 / mo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2880360"/>
            <a:ext cx="4983480" cy="0"/>
          </a:xfrm>
          <a:prstGeom prst="line">
            <a:avLst/>
          </a:prstGeom>
          <a:noFill/>
          <a:ln w="9525">
            <a:solidFill>
              <a:srgbClr val="E1E8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971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auto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2971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$46 / mo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3611880"/>
            <a:ext cx="4983480" cy="0"/>
          </a:xfrm>
          <a:prstGeom prst="line">
            <a:avLst/>
          </a:prstGeom>
          <a:noFill/>
          <a:ln w="9525">
            <a:solidFill>
              <a:srgbClr val="E1E8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7033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owner's policy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37033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$89 / mo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" y="4343400"/>
            <a:ext cx="4983480" cy="0"/>
          </a:xfrm>
          <a:prstGeom prst="line">
            <a:avLst/>
          </a:prstGeom>
          <a:noFill/>
          <a:ln w="9525">
            <a:solidFill>
              <a:srgbClr val="E1E8E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434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Workers' comp (with employees)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291840" y="44348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$131 / mo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77240" y="5074920"/>
            <a:ext cx="4983480" cy="0"/>
          </a:xfrm>
          <a:prstGeom prst="line">
            <a:avLst/>
          </a:prstGeom>
          <a:noFill/>
          <a:ln w="9525">
            <a:solidFill>
              <a:srgbClr val="E1E8E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5166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Garagekeepers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291840" y="5166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$1,800 / yr per $500K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72200" y="1554480"/>
            <a:ext cx="548640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40080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Licensing and tax findings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2194560"/>
            <a:ext cx="5029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 has no state detailing license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 Hill city business license, plus a $50 home-based permit if run from home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York County: home occupation permit; renewals by April 30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 sales tax: services generally not taxed (confirm with SC DOR)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NC: vehicle cleaning is a taxable service, with a detailer exception; confirm before working in Charlotte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Chester County license rules: unconfirmed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E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competition leaves room for a clear offer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local mobile detailers reviewed; prices are what they publish</a:t>
            </a:r>
            <a:endParaRPr lang="en-US" sz="15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926080"/>
                <a:gridCol w="544068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Published pricing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Watson Mobile Detailing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 Mill / Clover SC, Charlotte NC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$100; stain removal from $50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Essentials Mobile Detailing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$220 / $250; interior $160 / $200; maintenance $120 / $150; quick exterior $50; premium $400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jaaydetails.carrd.co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Basics $110 to $185 sedan, $135 to $210 SUV; premium $195 to $325 sedan, $250 to $425 SUV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service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Rock Hill / York County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Signature Full Detail $200 to $300; Interior Reset $140 to $200; Essential Wash $75 to $115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49240"/>
            <a:ext cx="11109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77240" y="53949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edge: own water and power, a 9-color towel system, fleet and monthly plans, and a Founding Customer offer. Our prices sit in line with the market, so we compete on reliability and results rather than discounts. More local price checks are recommended before launch.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E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first 25 customers find us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search, reviews and neighbors drive mobile detailing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9888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7830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Business Profile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2240280"/>
            <a:ext cx="4206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listing for Rock Hill, York, Clover, Fort Mill and Chester, with photos and reviews. Copy is already written in the blueprint.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0" y="155448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46520" y="1828800"/>
            <a:ext cx="640080" cy="64008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540" y="198882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15200" y="17830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first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7315200" y="2240280"/>
            <a:ext cx="4206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reviews are the biggest source of new local customers. Ask every launch customer, and use the Founding Customer offer and $20 referral credits to earn the first ones.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393192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4206240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36626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45920" y="41605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and email scripts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1645920" y="4617720"/>
            <a:ext cx="4206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Ready-made messages, including rainy-morning reschedule and delayed-run notices, keep customers informed.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217920" y="393192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46520" y="4206240"/>
            <a:ext cx="640080" cy="64008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6540" y="436626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15200" y="41605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outreach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7315200" y="4617720"/>
            <a:ext cx="4206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Contractors, property managers and dealers. Standing per-visit rates and proof of insurance make us easy to approve.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E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Roadmap: van to public launch in about eight weeks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assume the van arrives around November 11, 2026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063240"/>
            <a:ext cx="10607040" cy="0"/>
          </a:xfrm>
          <a:prstGeom prst="line">
            <a:avLst/>
          </a:prstGeom>
          <a:noFill/>
          <a:ln w="381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2880360"/>
            <a:ext cx="365760" cy="365760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1488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11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3520440"/>
            <a:ext cx="1737360" cy="21945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8368" y="361188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arrives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4114800"/>
            <a:ext cx="1554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insurance; file LLC and city license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54680" y="2880360"/>
            <a:ext cx="365760" cy="365760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423160" y="21488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11-22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468880" y="3520440"/>
            <a:ext cx="1737360" cy="21945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2532888" y="361188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Build-out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560320" y="4114800"/>
            <a:ext cx="1554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tank, generator, compressor, shelves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0" y="2880360"/>
            <a:ext cx="365760" cy="365760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97680" y="21488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23-Dec 6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343400" y="3520440"/>
            <a:ext cx="1737360" cy="21945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407408" y="361188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phase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434840" y="4114800"/>
            <a:ext cx="1554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runs and photos; fix workflow issues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03720" y="2880360"/>
            <a:ext cx="365760" cy="365760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72200" y="21488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Dec 7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217920" y="3520440"/>
            <a:ext cx="1737360" cy="21945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281928" y="361188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launch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309360" y="4114800"/>
            <a:ext cx="1554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paying customers with the launch offer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778240" y="2880360"/>
            <a:ext cx="365760" cy="365760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046720" y="21488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4, 2027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092440" y="3520440"/>
            <a:ext cx="1737360" cy="21945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8156448" y="361188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launch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183880" y="4114800"/>
            <a:ext cx="1554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marketing push and fleet outreach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652760" y="2880360"/>
            <a:ext cx="365760" cy="365760"/>
          </a:xfrm>
          <a:prstGeom prst="ellipse">
            <a:avLst/>
          </a:prstGeom>
          <a:solidFill>
            <a:srgbClr val="1BAF7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921240" y="21488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2027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9966960" y="3520440"/>
            <a:ext cx="1737360" cy="21945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10030968" y="361188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payback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10058400" y="4114800"/>
            <a:ext cx="1554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Sept 2027 if the low case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E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we plan for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are deal-breakers; each has a built-in answer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83080"/>
            <a:ext cx="594360" cy="59436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93167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7830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51460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reschedules on plans, a canopy for light rain, flexible booking.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97680" y="155448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6280" y="1783080"/>
            <a:ext cx="594360" cy="59436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870" y="193167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03520" y="17830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Wastewater compliance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251460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Mat, recovery and proper disposal are priced in from day one.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46720" y="155448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75320" y="1783080"/>
            <a:ext cx="594360" cy="59436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3910" y="1931670"/>
            <a:ext cx="297180" cy="2971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52560" y="17830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gaps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275320" y="251460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coverage in writing; biohazard work is excluded at launch.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393192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160520"/>
            <a:ext cx="594360" cy="59436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830" y="4309110"/>
            <a:ext cx="297180" cy="2971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54480" y="41605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ramp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489204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case still pays back in month 9; fixed costs only $880 a month.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297680" y="393192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26280" y="4160520"/>
            <a:ext cx="594360" cy="594360"/>
          </a:xfrm>
          <a:prstGeom prst="ellipse">
            <a:avLst/>
          </a:prstGeom>
          <a:solidFill>
            <a:srgbClr val="6B7A8C"/>
          </a:solidFill>
          <a:ln w="12700">
            <a:solidFill>
              <a:srgbClr val="6B7A8C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4870" y="4309110"/>
            <a:ext cx="297180" cy="29718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303520" y="41605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and CO safety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4526280" y="489204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alarm, GFCI cords and a fire extinguisher are in the budget.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8046720" y="393192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75320" y="4160520"/>
            <a:ext cx="594360" cy="594360"/>
          </a:xfrm>
          <a:prstGeom prst="ellipse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3910" y="4309110"/>
            <a:ext cx="297180" cy="29718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052560" y="41605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claims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8275320" y="489204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 every vehicle before and after the job.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E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1280160"/>
            <a:ext cx="5943600" cy="5943600"/>
          </a:xfrm>
          <a:prstGeom prst="ellipse">
            <a:avLst/>
          </a:prstGeom>
          <a:solidFill>
            <a:srgbClr val="0E7C86">
              <a:alpha val="25000"/>
            </a:srgbClr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to roll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say this works at a low pace and works very well at a normal one. The next four steps get us on the road.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13304D"/>
          </a:solidFill>
          <a:ln w="15875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651760"/>
            <a:ext cx="594360" cy="594360"/>
          </a:xfrm>
          <a:prstGeom prst="ellipse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651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383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funding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8862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Self-funded lean or a $15K loan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246888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13304D"/>
          </a:solidFill>
          <a:ln w="15875">
            <a:solidFill>
              <a:srgbClr val="0E7C8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66160" y="2651760"/>
            <a:ext cx="594360" cy="594360"/>
          </a:xfrm>
          <a:prstGeom prst="ellipse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66160" y="2651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3383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insurance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38862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written quotes and confirm exclusions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246888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13304D"/>
          </a:solidFill>
          <a:ln w="15875">
            <a:solidFill>
              <a:srgbClr val="0E7C8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2651760"/>
            <a:ext cx="594360" cy="594360"/>
          </a:xfrm>
          <a:prstGeom prst="ellipse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2651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3383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LLC and licenses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38862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 Hill city license and permits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052560" y="246888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13304D"/>
          </a:solidFill>
          <a:ln w="15875">
            <a:solidFill>
              <a:srgbClr val="0E7C8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35440" y="2651760"/>
            <a:ext cx="594360" cy="594360"/>
          </a:xfrm>
          <a:prstGeom prst="ellipse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235440" y="2651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9235440" y="3383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the van rig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9235440" y="38862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or Premium build, then test runs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394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offer: 15% off your first Interior Reset or Signature Full Detail, first 25 Founding Customers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035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E&amp;L Services &amp; Sales  |  Rock Hill, SC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Shopping list overview: what we need to buy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build costs come from the plan; Value build costs come from the blueprint</a:t>
            </a:r>
            <a:endParaRPr lang="en-US" sz="15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694944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1188720"/>
                <a:gridCol w="1188720"/>
                <a:gridCol w="11887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equipment and van conversion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$7,231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$7,800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$8,303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Wastewater containment kit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$1,902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$2,492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Added equipment and safety gear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$1,873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$3,002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Chemicals, tools, towels, storage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$1,956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Supplies subtotal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$10,353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$13,081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$15,753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508760"/>
            <a:ext cx="3886200" cy="3017520"/>
          </a:xfrm>
          <a:prstGeom prst="roundRect">
            <a:avLst>
              <a:gd name="adj" fmla="val 2424"/>
            </a:avLst>
          </a:prstGeom>
          <a:solidFill>
            <a:srgbClr val="0B1F33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001000" y="1645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build (blueprint)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001000" y="20574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B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$4,508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8001000" y="292608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$3,625 + supplies $593 + PPE $290. Blueprint prices are unverified.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4617720"/>
            <a:ext cx="111099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77240" y="47091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the next slides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507492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card shows the item, the price from the plan and a link to the store page where one was found. Prices marked "estimate" were not found on a store page. Colored tiles stand in for product photos; open the store link to see the real item. Always recheck the price at checkout. The van itself and the first-year insurance premium are not in these totals.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E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equipment and van conversion (Premium build)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$7,231 lean to $8,303 full. Prices from the equipment reference document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112264" cy="230886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618488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746504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89888" y="1600200"/>
            <a:ext cx="1179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Honda EU3000iS inverter generator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2350008"/>
            <a:ext cx="1892808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3000W surge / 2800W rated. Quiet, clean power; mounts on the rear shelf.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3012948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$2,399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3470148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2A78D6"/>
                </a:solidFill>
                <a:uFill>
                  <a:solidFill>
                    <a:srgbClr val="2A78D6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https://martinsoutdoor.com/products/honda-eu3000is-generato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Martin's Outdoor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798064" y="1508760"/>
            <a:ext cx="2112264" cy="230886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07792" y="1618488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1746504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639312" y="1600200"/>
            <a:ext cx="1179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Simpson PowerShot PS60869 pressure washer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2907792" y="2350008"/>
            <a:ext cx="1892808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Honda GX270 engine, 4000 PSI / 3.5 GPM.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2907792" y="3012948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$800 to $1,409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2907792" y="3470148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2A78D6"/>
                </a:solidFill>
                <a:uFill>
                  <a:solidFill>
                    <a:srgbClr val="2A78D6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https://tractorsupply.com/tsc/product/simpson-powershot-series-ps60869-4000-psi-@-35-gpm-gas-pressure-washer-powered-by-honda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Tractor Supply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047488" y="1508760"/>
            <a:ext cx="2112264" cy="230886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157216" y="1618488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5232" y="1746504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888736" y="1600200"/>
            <a:ext cx="1179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Mytee HP120 Grand Prix heated extractor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5157216" y="2350008"/>
            <a:ext cx="1892808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deep interior extraction. Plan says hold this until extraction demand appears.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5157216" y="3012948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$2,258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5157216" y="3470148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2A78D6"/>
                </a:solidFill>
                <a:uFill>
                  <a:solidFill>
                    <a:srgbClr val="2A78D6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https://carsupplieswarehouse.com/products/mytee-grand-prix-hp120-automotive-heated-detail-extracto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Car Supplies Warehouse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7296912" y="1508760"/>
            <a:ext cx="2112264" cy="230886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406640" y="1618488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4656" y="1746504"/>
            <a:ext cx="384048" cy="384048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8138160" y="1600200"/>
            <a:ext cx="1179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detailing water tank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7406640" y="2350008"/>
            <a:ext cx="1892808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to 55 gal clean-water tank. A 100-gal Detail King tank is $460.</a:t>
            </a:r>
            <a:endParaRPr lang="en-US" sz="1050" dirty="0"/>
          </a:p>
        </p:txBody>
      </p:sp>
      <p:sp>
        <p:nvSpPr>
          <p:cNvPr id="30" name="Text 24"/>
          <p:cNvSpPr txBox="1"/>
          <p:nvPr/>
        </p:nvSpPr>
        <p:spPr>
          <a:xfrm>
            <a:off x="7406640" y="3012948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$270 to $280</a:t>
            </a:r>
            <a:endParaRPr lang="en-US" sz="1500" dirty="0"/>
          </a:p>
        </p:txBody>
      </p:sp>
      <p:sp>
        <p:nvSpPr>
          <p:cNvPr id="31" name="Text 25"/>
          <p:cNvSpPr txBox="1"/>
          <p:nvPr/>
        </p:nvSpPr>
        <p:spPr>
          <a:xfrm>
            <a:off x="7406640" y="3470148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2A78D6"/>
                </a:solidFill>
                <a:uFill>
                  <a:solidFill>
                    <a:srgbClr val="2A78D6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https://www.detailking.com/products/100-gallon-plastic-water-ta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Detail King (100-gal option)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9546336" y="1508760"/>
            <a:ext cx="2112264" cy="230886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9656064" y="1618488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84080" y="1746504"/>
            <a:ext cx="384048" cy="384048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10387584" y="1600200"/>
            <a:ext cx="1179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Foam cannon and spray gun combo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656064" y="2350008"/>
            <a:ext cx="1892808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Adam's combo for the foam pre-soak.</a:t>
            </a:r>
            <a:endParaRPr lang="en-US" sz="1050" dirty="0"/>
          </a:p>
        </p:txBody>
      </p:sp>
      <p:sp>
        <p:nvSpPr>
          <p:cNvPr id="37" name="Text 30"/>
          <p:cNvSpPr txBox="1"/>
          <p:nvPr/>
        </p:nvSpPr>
        <p:spPr>
          <a:xfrm>
            <a:off x="9656064" y="3012948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$99.99</a:t>
            </a:r>
            <a:endParaRPr lang="en-US" sz="15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3470148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2A78D6"/>
                </a:solidFill>
                <a:uFill>
                  <a:solidFill>
                    <a:srgbClr val="2A78D6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  <a:hlinkClick r:id="rId10" invalidUrl="" action="" tgtFrame="" tooltip="https://adamspolishes.com/products/adam-s-foam-cannon-ultra-foam-comb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Adam's Polishes</a:t>
            </a:r>
            <a:endParaRPr lang="en-US" sz="1050" dirty="0"/>
          </a:p>
        </p:txBody>
      </p:sp>
      <p:sp>
        <p:nvSpPr>
          <p:cNvPr id="39" name="Shape 32"/>
          <p:cNvSpPr/>
          <p:nvPr/>
        </p:nvSpPr>
        <p:spPr>
          <a:xfrm>
            <a:off x="548640" y="3954780"/>
            <a:ext cx="2112264" cy="230886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658368" y="4064508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6B7A8C"/>
          </a:solidFill>
          <a:ln w="12700">
            <a:solidFill>
              <a:srgbClr val="6B7A8C"/>
            </a:solidFill>
            <a:prstDash val="solid"/>
          </a:ln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6384" y="4192524"/>
            <a:ext cx="384048" cy="384048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1389888" y="4046220"/>
            <a:ext cx="1179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Tri-fold aluminum ramp</a:t>
            </a:r>
            <a:endParaRPr lang="en-US" sz="1200" dirty="0"/>
          </a:p>
        </p:txBody>
      </p:sp>
      <p:sp>
        <p:nvSpPr>
          <p:cNvPr id="43" name="Text 35"/>
          <p:cNvSpPr txBox="1"/>
          <p:nvPr/>
        </p:nvSpPr>
        <p:spPr>
          <a:xfrm>
            <a:off x="658368" y="4796028"/>
            <a:ext cx="1892808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HAUL-MASTER, 1500 lb rating. Rolls the extractor out of the van.</a:t>
            </a:r>
            <a:endParaRPr lang="en-US" sz="1050" dirty="0"/>
          </a:p>
        </p:txBody>
      </p:sp>
      <p:sp>
        <p:nvSpPr>
          <p:cNvPr id="44" name="Text 36"/>
          <p:cNvSpPr txBox="1"/>
          <p:nvPr/>
        </p:nvSpPr>
        <p:spPr>
          <a:xfrm>
            <a:off x="658368" y="5458968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$249.99</a:t>
            </a:r>
            <a:endParaRPr lang="en-US" sz="1500" dirty="0"/>
          </a:p>
        </p:txBody>
      </p:sp>
      <p:sp>
        <p:nvSpPr>
          <p:cNvPr id="45" name="Text 37"/>
          <p:cNvSpPr txBox="1"/>
          <p:nvPr/>
        </p:nvSpPr>
        <p:spPr>
          <a:xfrm>
            <a:off x="658368" y="5916168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2A78D6"/>
                </a:solidFill>
                <a:uFill>
                  <a:solidFill>
                    <a:srgbClr val="2A78D6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  <a:hlinkClick r:id="rId12" invalidUrl="" action="" tgtFrame="" tooltip="https://www.harborfreight.com/automotive/ramps/loading-ramps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Harbor Freight (ramps page)</a:t>
            </a:r>
            <a:endParaRPr lang="en-US" sz="1050" dirty="0"/>
          </a:p>
        </p:txBody>
      </p:sp>
      <p:sp>
        <p:nvSpPr>
          <p:cNvPr id="46" name="Shape 38"/>
          <p:cNvSpPr/>
          <p:nvPr/>
        </p:nvSpPr>
        <p:spPr>
          <a:xfrm>
            <a:off x="2798064" y="3954780"/>
            <a:ext cx="2112264" cy="230886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7" name="Shape 39"/>
          <p:cNvSpPr/>
          <p:nvPr/>
        </p:nvSpPr>
        <p:spPr>
          <a:xfrm>
            <a:off x="2907792" y="4064508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35808" y="4192524"/>
            <a:ext cx="384048" cy="384048"/>
          </a:xfrm>
          <a:prstGeom prst="rect">
            <a:avLst/>
          </a:prstGeom>
        </p:spPr>
      </p:pic>
      <p:sp>
        <p:nvSpPr>
          <p:cNvPr id="49" name="Text 40"/>
          <p:cNvSpPr txBox="1"/>
          <p:nvPr/>
        </p:nvSpPr>
        <p:spPr>
          <a:xfrm>
            <a:off x="3639312" y="4046220"/>
            <a:ext cx="1179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Hose reels and hoses</a:t>
            </a:r>
            <a:endParaRPr lang="en-US" sz="1200" dirty="0"/>
          </a:p>
        </p:txBody>
      </p:sp>
      <p:sp>
        <p:nvSpPr>
          <p:cNvPr id="50" name="Text 41"/>
          <p:cNvSpPr txBox="1"/>
          <p:nvPr/>
        </p:nvSpPr>
        <p:spPr>
          <a:xfrm>
            <a:off x="2907792" y="4796028"/>
            <a:ext cx="1892808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Eley reel cart $375, VXB 50 ft reel $124 to $272, commercial garden hose $50.</a:t>
            </a:r>
            <a:endParaRPr lang="en-US" sz="1050" dirty="0"/>
          </a:p>
        </p:txBody>
      </p:sp>
      <p:sp>
        <p:nvSpPr>
          <p:cNvPr id="51" name="Text 42"/>
          <p:cNvSpPr txBox="1"/>
          <p:nvPr/>
        </p:nvSpPr>
        <p:spPr>
          <a:xfrm>
            <a:off x="2907792" y="5458968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$549 to $697</a:t>
            </a:r>
            <a:endParaRPr lang="en-US" sz="1500" dirty="0"/>
          </a:p>
        </p:txBody>
      </p:sp>
      <p:sp>
        <p:nvSpPr>
          <p:cNvPr id="52" name="Text 43"/>
          <p:cNvSpPr txBox="1"/>
          <p:nvPr/>
        </p:nvSpPr>
        <p:spPr>
          <a:xfrm>
            <a:off x="2907792" y="5916168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link in the reference doc</a:t>
            </a:r>
            <a:endParaRPr lang="en-US" sz="1050" dirty="0"/>
          </a:p>
        </p:txBody>
      </p:sp>
      <p:sp>
        <p:nvSpPr>
          <p:cNvPr id="53" name="Shape 44"/>
          <p:cNvSpPr/>
          <p:nvPr/>
        </p:nvSpPr>
        <p:spPr>
          <a:xfrm>
            <a:off x="5047488" y="3954780"/>
            <a:ext cx="2112264" cy="230886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4" name="Shape 45"/>
          <p:cNvSpPr/>
          <p:nvPr/>
        </p:nvSpPr>
        <p:spPr>
          <a:xfrm>
            <a:off x="5157216" y="4064508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6B7A8C"/>
          </a:solidFill>
          <a:ln w="12700">
            <a:solidFill>
              <a:srgbClr val="6B7A8C"/>
            </a:solidFill>
            <a:prstDash val="solid"/>
          </a:ln>
        </p:spPr>
      </p:sp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85232" y="4192524"/>
            <a:ext cx="384048" cy="384048"/>
          </a:xfrm>
          <a:prstGeom prst="rect">
            <a:avLst/>
          </a:prstGeom>
        </p:spPr>
      </p:pic>
      <p:sp>
        <p:nvSpPr>
          <p:cNvPr id="56" name="Text 46"/>
          <p:cNvSpPr txBox="1"/>
          <p:nvPr/>
        </p:nvSpPr>
        <p:spPr>
          <a:xfrm>
            <a:off x="5888736" y="4046220"/>
            <a:ext cx="1179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E-track tie-downs and isolator feet</a:t>
            </a:r>
            <a:endParaRPr lang="en-US" sz="1200" dirty="0"/>
          </a:p>
        </p:txBody>
      </p:sp>
      <p:sp>
        <p:nvSpPr>
          <p:cNvPr id="57" name="Text 47"/>
          <p:cNvSpPr txBox="1"/>
          <p:nvPr/>
        </p:nvSpPr>
        <p:spPr>
          <a:xfrm>
            <a:off x="5157216" y="4796028"/>
            <a:ext cx="1892808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E-track kit $119.99, isolator feet $15 to $30 (unconfirmed).</a:t>
            </a:r>
            <a:endParaRPr lang="en-US" sz="1050" dirty="0"/>
          </a:p>
        </p:txBody>
      </p:sp>
      <p:sp>
        <p:nvSpPr>
          <p:cNvPr id="58" name="Text 48"/>
          <p:cNvSpPr txBox="1"/>
          <p:nvPr/>
        </p:nvSpPr>
        <p:spPr>
          <a:xfrm>
            <a:off x="5157216" y="5458968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$135 to $150</a:t>
            </a:r>
            <a:endParaRPr lang="en-US" sz="1500" dirty="0"/>
          </a:p>
        </p:txBody>
      </p:sp>
      <p:sp>
        <p:nvSpPr>
          <p:cNvPr id="59" name="Text 49"/>
          <p:cNvSpPr txBox="1"/>
          <p:nvPr/>
        </p:nvSpPr>
        <p:spPr>
          <a:xfrm>
            <a:off x="5157216" y="5916168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link in the reference doc</a:t>
            </a:r>
            <a:endParaRPr lang="en-US" sz="1050" dirty="0"/>
          </a:p>
        </p:txBody>
      </p:sp>
      <p:sp>
        <p:nvSpPr>
          <p:cNvPr id="60" name="Shape 50"/>
          <p:cNvSpPr/>
          <p:nvPr/>
        </p:nvSpPr>
        <p:spPr>
          <a:xfrm>
            <a:off x="7296912" y="3954780"/>
            <a:ext cx="2112264" cy="230886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1" name="Shape 51"/>
          <p:cNvSpPr/>
          <p:nvPr/>
        </p:nvSpPr>
        <p:spPr>
          <a:xfrm>
            <a:off x="7406640" y="4064508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62" name="Image 8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34656" y="4192524"/>
            <a:ext cx="384048" cy="384048"/>
          </a:xfrm>
          <a:prstGeom prst="rect">
            <a:avLst/>
          </a:prstGeom>
        </p:spPr>
      </p:pic>
      <p:sp>
        <p:nvSpPr>
          <p:cNvPr id="63" name="Text 52"/>
          <p:cNvSpPr txBox="1"/>
          <p:nvPr/>
        </p:nvSpPr>
        <p:spPr>
          <a:xfrm>
            <a:off x="8138160" y="4046220"/>
            <a:ext cx="1179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 shelf (custom build)</a:t>
            </a:r>
            <a:endParaRPr lang="en-US" sz="1200" dirty="0"/>
          </a:p>
        </p:txBody>
      </p:sp>
      <p:sp>
        <p:nvSpPr>
          <p:cNvPr id="64" name="Text 53"/>
          <p:cNvSpPr txBox="1"/>
          <p:nvPr/>
        </p:nvSpPr>
        <p:spPr>
          <a:xfrm>
            <a:off x="7406640" y="4796028"/>
            <a:ext cx="1892808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Steel angle iron with plywood or aluminum, built by the owners. Holds generator and washer.</a:t>
            </a:r>
            <a:endParaRPr lang="en-US" sz="1050" dirty="0"/>
          </a:p>
        </p:txBody>
      </p:sp>
      <p:sp>
        <p:nvSpPr>
          <p:cNvPr id="65" name="Text 54"/>
          <p:cNvSpPr txBox="1"/>
          <p:nvPr/>
        </p:nvSpPr>
        <p:spPr>
          <a:xfrm>
            <a:off x="7406640" y="5458968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 to $400</a:t>
            </a:r>
            <a:endParaRPr lang="en-US" sz="1500" dirty="0"/>
          </a:p>
        </p:txBody>
      </p:sp>
      <p:sp>
        <p:nvSpPr>
          <p:cNvPr id="66" name="Text 55"/>
          <p:cNvSpPr txBox="1"/>
          <p:nvPr/>
        </p:nvSpPr>
        <p:spPr>
          <a:xfrm>
            <a:off x="7406640" y="5916168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store materials</a:t>
            </a:r>
            <a:endParaRPr lang="en-US" sz="1050" dirty="0"/>
          </a:p>
        </p:txBody>
      </p:sp>
      <p:sp>
        <p:nvSpPr>
          <p:cNvPr id="67" name="Shape 56"/>
          <p:cNvSpPr/>
          <p:nvPr/>
        </p:nvSpPr>
        <p:spPr>
          <a:xfrm>
            <a:off x="9546336" y="3954780"/>
            <a:ext cx="2112264" cy="230886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8" name="Shape 57"/>
          <p:cNvSpPr/>
          <p:nvPr/>
        </p:nvSpPr>
        <p:spPr>
          <a:xfrm>
            <a:off x="9656064" y="4064508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69" name="Image 9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784080" y="4192524"/>
            <a:ext cx="384048" cy="384048"/>
          </a:xfrm>
          <a:prstGeom prst="rect">
            <a:avLst/>
          </a:prstGeom>
        </p:spPr>
      </p:pic>
      <p:sp>
        <p:nvSpPr>
          <p:cNvPr id="70" name="Text 58"/>
          <p:cNvSpPr txBox="1"/>
          <p:nvPr/>
        </p:nvSpPr>
        <p:spPr>
          <a:xfrm>
            <a:off x="10387584" y="4046220"/>
            <a:ext cx="1179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Fridge, trash can, portable restroom</a:t>
            </a:r>
            <a:endParaRPr lang="en-US" sz="1200" dirty="0"/>
          </a:p>
        </p:txBody>
      </p:sp>
      <p:sp>
        <p:nvSpPr>
          <p:cNvPr id="71" name="Text 59"/>
          <p:cNvSpPr txBox="1"/>
          <p:nvPr/>
        </p:nvSpPr>
        <p:spPr>
          <a:xfrm>
            <a:off x="9656064" y="4796028"/>
            <a:ext cx="1892808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BougeRV 23 qt $170, 32-gal can $50 to $90, restroom unit about $100.</a:t>
            </a:r>
            <a:endParaRPr lang="en-US" sz="1050" dirty="0"/>
          </a:p>
        </p:txBody>
      </p:sp>
      <p:sp>
        <p:nvSpPr>
          <p:cNvPr id="72" name="Text 60"/>
          <p:cNvSpPr txBox="1"/>
          <p:nvPr/>
        </p:nvSpPr>
        <p:spPr>
          <a:xfrm>
            <a:off x="9656064" y="5458968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$320 to $360</a:t>
            </a:r>
            <a:endParaRPr lang="en-US" sz="1500" dirty="0"/>
          </a:p>
        </p:txBody>
      </p:sp>
      <p:sp>
        <p:nvSpPr>
          <p:cNvPr id="73" name="Text 61"/>
          <p:cNvSpPr txBox="1"/>
          <p:nvPr/>
        </p:nvSpPr>
        <p:spPr>
          <a:xfrm>
            <a:off x="9656064" y="5916168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2A78D6"/>
                </a:solidFill>
                <a:uFill>
                  <a:solidFill>
                    <a:srgbClr val="2A78D6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  <a:hlinkClick r:id="rId17" invalidUrl="" action="" tgtFrame="" tooltip="https://slickdeals.net/f/19753284-23-qt-bougerv-portable-12v-car-refrigerator-152-free-s-h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Slickdeals (BougeRV deal)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E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Wastewater containment kit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$1,026 lean, $1,902 base, $2,492 full. Buy this before the first job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11880" cy="2308860"/>
          </a:xfrm>
          <a:prstGeom prst="roundRect">
            <a:avLst>
              <a:gd name="adj" fmla="val 3168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618488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746504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89888" y="1600200"/>
            <a:ext cx="2679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 mat or berm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2350008"/>
            <a:ext cx="3392424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Lean: 8' x 8' wash mat. Base: 9.5' x 20' vinyl mat with foam berm. Full: mat with foam berm, 'starting at'.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3012948"/>
            <a:ext cx="3392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$519 / $1,295 / $1,595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3470148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2A78D6"/>
                </a:solidFill>
                <a:uFill>
                  <a:solidFill>
                    <a:srgbClr val="2A78D6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https://www.detailking.com/collections/water-containment-reclamatio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Detail King (containment)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297680" y="1508760"/>
            <a:ext cx="3611880" cy="2308860"/>
          </a:xfrm>
          <a:prstGeom prst="roundRect">
            <a:avLst>
              <a:gd name="adj" fmla="val 3168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07408" y="1618488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424" y="1746504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138928" y="1600200"/>
            <a:ext cx="2679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16-gal wet/dry vac (Husky)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4407408" y="2350008"/>
            <a:ext cx="3392424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wash water off the mat into the collection tank.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4407408" y="3012948"/>
            <a:ext cx="3392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$107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4407408" y="3470148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2A78D6"/>
                </a:solidFill>
                <a:uFill>
                  <a:solidFill>
                    <a:srgbClr val="2A78D6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https://homedepot.com/p/Husky-16-Gal-6-5-Peak-HP-Poly-Cart-Design-Wet-Dry-Vac-with-a-Cartridge-Filter-Hose-and-Accessories-AT18621P-16A/323107484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Home Depot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046720" y="1508760"/>
            <a:ext cx="3611880" cy="2308860"/>
          </a:xfrm>
          <a:prstGeom prst="roundRect">
            <a:avLst>
              <a:gd name="adj" fmla="val 3168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156448" y="1618488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4464" y="1746504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887968" y="1600200"/>
            <a:ext cx="2679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Wastewater collection tank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8156448" y="2350008"/>
            <a:ext cx="3392424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50 to 55 gal ($270), base $280, full 100 gal ($460, was sold out when checked). A full 55-gal tank adds about 460 lb.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8156448" y="3012948"/>
            <a:ext cx="3392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$270 / $280 / $460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8156448" y="3470148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2A78D6"/>
                </a:solidFill>
                <a:uFill>
                  <a:solidFill>
                    <a:srgbClr val="2A78D6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https://www.detailking.com/products/100-gallon-plastic-water-ta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Detail King (100-gal tank)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548640" y="3954780"/>
            <a:ext cx="3611880" cy="2308860"/>
          </a:xfrm>
          <a:prstGeom prst="roundRect">
            <a:avLst>
              <a:gd name="adj" fmla="val 3168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58368" y="4064508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" y="4192524"/>
            <a:ext cx="384048" cy="384048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389888" y="4046220"/>
            <a:ext cx="2679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pump and hose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658368" y="4796028"/>
            <a:ext cx="3392424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collected water to the disposal point.</a:t>
            </a:r>
            <a:endParaRPr lang="en-US" sz="1050" dirty="0"/>
          </a:p>
        </p:txBody>
      </p:sp>
      <p:sp>
        <p:nvSpPr>
          <p:cNvPr id="30" name="Text 24"/>
          <p:cNvSpPr txBox="1"/>
          <p:nvPr/>
        </p:nvSpPr>
        <p:spPr>
          <a:xfrm>
            <a:off x="658368" y="5458968"/>
            <a:ext cx="3392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 / $100 / $150</a:t>
            </a:r>
            <a:endParaRPr lang="en-US" sz="1300" dirty="0"/>
          </a:p>
        </p:txBody>
      </p:sp>
      <p:sp>
        <p:nvSpPr>
          <p:cNvPr id="31" name="Text 25"/>
          <p:cNvSpPr txBox="1"/>
          <p:nvPr/>
        </p:nvSpPr>
        <p:spPr>
          <a:xfrm>
            <a:off x="658368" y="5916168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Estimate, not from a store page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4297680" y="3954780"/>
            <a:ext cx="3611880" cy="2308860"/>
          </a:xfrm>
          <a:prstGeom prst="roundRect">
            <a:avLst>
              <a:gd name="adj" fmla="val 3168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4407408" y="4064508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35424" y="4192524"/>
            <a:ext cx="384048" cy="384048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5138928" y="4046220"/>
            <a:ext cx="2679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Spill kit and absorbents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4407408" y="4796028"/>
            <a:ext cx="3392424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on every job.</a:t>
            </a:r>
            <a:endParaRPr lang="en-US" sz="1050" dirty="0"/>
          </a:p>
        </p:txBody>
      </p:sp>
      <p:sp>
        <p:nvSpPr>
          <p:cNvPr id="37" name="Text 30"/>
          <p:cNvSpPr txBox="1"/>
          <p:nvPr/>
        </p:nvSpPr>
        <p:spPr>
          <a:xfrm>
            <a:off x="4407408" y="5458968"/>
            <a:ext cx="3392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 / $60 / $80</a:t>
            </a:r>
            <a:endParaRPr lang="en-US" sz="1300" dirty="0"/>
          </a:p>
        </p:txBody>
      </p:sp>
      <p:sp>
        <p:nvSpPr>
          <p:cNvPr id="38" name="Text 31"/>
          <p:cNvSpPr txBox="1"/>
          <p:nvPr/>
        </p:nvSpPr>
        <p:spPr>
          <a:xfrm>
            <a:off x="4407408" y="5916168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Estimate, not from a store page</a:t>
            </a:r>
            <a:endParaRPr lang="en-US" sz="1050" dirty="0"/>
          </a:p>
        </p:txBody>
      </p:sp>
      <p:sp>
        <p:nvSpPr>
          <p:cNvPr id="39" name="Shape 32"/>
          <p:cNvSpPr/>
          <p:nvPr/>
        </p:nvSpPr>
        <p:spPr>
          <a:xfrm>
            <a:off x="8046720" y="3954780"/>
            <a:ext cx="3611880" cy="2308860"/>
          </a:xfrm>
          <a:prstGeom prst="roundRect">
            <a:avLst>
              <a:gd name="adj" fmla="val 3168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8156448" y="4064508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84464" y="4192524"/>
            <a:ext cx="384048" cy="384048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8887968" y="4046220"/>
            <a:ext cx="2679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 drain cover or blocker</a:t>
            </a:r>
            <a:endParaRPr lang="en-US" sz="1200" dirty="0"/>
          </a:p>
        </p:txBody>
      </p:sp>
      <p:sp>
        <p:nvSpPr>
          <p:cNvPr id="43" name="Text 35"/>
          <p:cNvSpPr txBox="1"/>
          <p:nvPr/>
        </p:nvSpPr>
        <p:spPr>
          <a:xfrm>
            <a:off x="8156448" y="4796028"/>
            <a:ext cx="3392424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drains at the customer's site.</a:t>
            </a:r>
            <a:endParaRPr lang="en-US" sz="1050" dirty="0"/>
          </a:p>
        </p:txBody>
      </p:sp>
      <p:sp>
        <p:nvSpPr>
          <p:cNvPr id="44" name="Text 36"/>
          <p:cNvSpPr txBox="1"/>
          <p:nvPr/>
        </p:nvSpPr>
        <p:spPr>
          <a:xfrm>
            <a:off x="8156448" y="5458968"/>
            <a:ext cx="3392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 / $60 / $100</a:t>
            </a:r>
            <a:endParaRPr lang="en-US" sz="1300" dirty="0"/>
          </a:p>
        </p:txBody>
      </p:sp>
      <p:sp>
        <p:nvSpPr>
          <p:cNvPr id="45" name="Text 37"/>
          <p:cNvSpPr txBox="1"/>
          <p:nvPr/>
        </p:nvSpPr>
        <p:spPr>
          <a:xfrm>
            <a:off x="8156448" y="5916168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Estimate, not from a store page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E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Added equipment and safety gear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$998 lean, $1,873 base, $3,002 full. Prices shown Lean / Base / Full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112264" cy="230886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618488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746504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89888" y="1600200"/>
            <a:ext cx="1179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16-gal wet/dry vac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2350008"/>
            <a:ext cx="1892808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dry interior work; keep the kit's vac for wastewater.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3012948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$107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3470148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2A78D6"/>
                </a:solidFill>
                <a:uFill>
                  <a:solidFill>
                    <a:srgbClr val="2A78D6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https://homedepot.com/p/Husky-16-Gal-6-5-Peak-HP-Poly-Cart-Design-Wet-Dry-Vac-with-a-Cartridge-Filter-Hose-and-Accessories-AT18621P-16A/323107484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Home Depot (Husky)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798064" y="1508760"/>
            <a:ext cx="2112264" cy="230886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07792" y="1618488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1746504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639312" y="1600200"/>
            <a:ext cx="1179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Steamer (Vapamore)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2907792" y="2350008"/>
            <a:ext cx="1892808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MR-100 Primo, base MR-750 Ottimo, full MR-1000 Forza.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2907792" y="3012948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$299 / $999 / $1,799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2907792" y="3470148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2A78D6"/>
                </a:solidFill>
                <a:uFill>
                  <a:solidFill>
                    <a:srgbClr val="2A78D6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https://www.detailking.com/shop-by-brand/vapamore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Detail King (Vapamore)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047488" y="1508760"/>
            <a:ext cx="2112264" cy="230886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157216" y="1618488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6B7A8C"/>
          </a:solidFill>
          <a:ln w="12700">
            <a:solidFill>
              <a:srgbClr val="6B7A8C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5232" y="1746504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888736" y="1600200"/>
            <a:ext cx="1179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6-gal air compressor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5157216" y="2350008"/>
            <a:ext cx="1892808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RIDGID OF60150HB deal price from 2023; check the current price. Full: Home Depot 6-gal kit.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5157216" y="3012948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$129 / $129 / $299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5157216" y="3470148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2A78D6"/>
                </a:solidFill>
                <a:uFill>
                  <a:solidFill>
                    <a:srgbClr val="2A78D6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https://slickdeals.net/f/17009452-ridgid-6-gal-portable-electric-pancake-air-compressor-99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Slickdeals (compressor)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7296912" y="1508760"/>
            <a:ext cx="2112264" cy="230886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406640" y="1618488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4656" y="1746504"/>
            <a:ext cx="384048" cy="384048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8138160" y="1600200"/>
            <a:ext cx="1179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 x 10' pop-up canopy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7406640" y="2350008"/>
            <a:ext cx="1892808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Eagle Peak commercial canopy for shade and light rain.</a:t>
            </a:r>
            <a:endParaRPr lang="en-US" sz="1050" dirty="0"/>
          </a:p>
        </p:txBody>
      </p:sp>
      <p:sp>
        <p:nvSpPr>
          <p:cNvPr id="30" name="Text 24"/>
          <p:cNvSpPr txBox="1"/>
          <p:nvPr/>
        </p:nvSpPr>
        <p:spPr>
          <a:xfrm>
            <a:off x="7406640" y="3012948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</a:t>
            </a:r>
            <a:endParaRPr lang="en-US" sz="1500" dirty="0"/>
          </a:p>
        </p:txBody>
      </p:sp>
      <p:sp>
        <p:nvSpPr>
          <p:cNvPr id="31" name="Text 25"/>
          <p:cNvSpPr txBox="1"/>
          <p:nvPr/>
        </p:nvSpPr>
        <p:spPr>
          <a:xfrm>
            <a:off x="7406640" y="3470148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2A78D6"/>
                </a:solidFill>
                <a:uFill>
                  <a:solidFill>
                    <a:srgbClr val="2A78D6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https://www.homedepot.com/p/EAGLE-PEAK-10-ft-x-10-ft-Heavy-Duty-Commercial-Pop-Up-Instant-Canopy-Tent-White-CP100-01-AZ/320648786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Home Depot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9546336" y="1508760"/>
            <a:ext cx="2112264" cy="230886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9656064" y="1618488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84080" y="1746504"/>
            <a:ext cx="384048" cy="384048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10387584" y="1600200"/>
            <a:ext cx="1179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ft 12/3 GFCI extension cord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656064" y="2350008"/>
            <a:ext cx="1892808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$115 each. 1, 2 or 3 cords by scenario. Wet work runs through GFCI power.</a:t>
            </a:r>
            <a:endParaRPr lang="en-US" sz="1050" dirty="0"/>
          </a:p>
        </p:txBody>
      </p:sp>
      <p:sp>
        <p:nvSpPr>
          <p:cNvPr id="37" name="Text 30"/>
          <p:cNvSpPr txBox="1"/>
          <p:nvPr/>
        </p:nvSpPr>
        <p:spPr>
          <a:xfrm>
            <a:off x="9656064" y="3012948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$115 / $230 / $345</a:t>
            </a:r>
            <a:endParaRPr lang="en-US" sz="13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3470148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2A78D6"/>
                </a:solidFill>
                <a:uFill>
                  <a:solidFill>
                    <a:srgbClr val="2A78D6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  <a:hlinkClick r:id="rId10" invalidUrl="" action="" tgtFrame="" tooltip="https://www.doitbest.com/product/545345/southwire-50-ft-12-3-heavy-duty-gfci-in-line-extension-cord-545345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 it Best (Southwire)</a:t>
            </a:r>
            <a:endParaRPr lang="en-US" sz="1050" dirty="0"/>
          </a:p>
        </p:txBody>
      </p:sp>
      <p:sp>
        <p:nvSpPr>
          <p:cNvPr id="39" name="Shape 32"/>
          <p:cNvSpPr/>
          <p:nvPr/>
        </p:nvSpPr>
        <p:spPr>
          <a:xfrm>
            <a:off x="548640" y="3954780"/>
            <a:ext cx="2112264" cy="230886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658368" y="4064508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6384" y="4192524"/>
            <a:ext cx="384048" cy="384048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1389888" y="4046220"/>
            <a:ext cx="1179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fire extinguisher, 5.5 lb</a:t>
            </a:r>
            <a:endParaRPr lang="en-US" sz="1200" dirty="0"/>
          </a:p>
        </p:txBody>
      </p:sp>
      <p:sp>
        <p:nvSpPr>
          <p:cNvPr id="43" name="Text 35"/>
          <p:cNvSpPr txBox="1"/>
          <p:nvPr/>
        </p:nvSpPr>
        <p:spPr>
          <a:xfrm>
            <a:off x="658368" y="4796028"/>
            <a:ext cx="1892808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 each. One in the cabin, one at the generator shelf.</a:t>
            </a:r>
            <a:endParaRPr lang="en-US" sz="1050" dirty="0"/>
          </a:p>
        </p:txBody>
      </p:sp>
      <p:sp>
        <p:nvSpPr>
          <p:cNvPr id="44" name="Text 36"/>
          <p:cNvSpPr txBox="1"/>
          <p:nvPr/>
        </p:nvSpPr>
        <p:spPr>
          <a:xfrm>
            <a:off x="658368" y="5458968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 / $120 / $120</a:t>
            </a:r>
            <a:endParaRPr lang="en-US" sz="1300" dirty="0"/>
          </a:p>
        </p:txBody>
      </p:sp>
      <p:sp>
        <p:nvSpPr>
          <p:cNvPr id="45" name="Text 37"/>
          <p:cNvSpPr txBox="1"/>
          <p:nvPr/>
        </p:nvSpPr>
        <p:spPr>
          <a:xfrm>
            <a:off x="658368" y="5916168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2A78D6"/>
                </a:solidFill>
                <a:uFill>
                  <a:solidFill>
                    <a:srgbClr val="2A78D6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  <a:hlinkClick r:id="rId12" invalidUrl="" action="" tgtFrame="" tooltip="https://www.homedepot.com/p/Kidde-Pro-340-Rechargeable-3-A-40-B-C-Class-ABC-5-5-lb-Fire-Extinguisher-21030916-21030916/100558332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Home Depot (Kidde Pro 340)</a:t>
            </a:r>
            <a:endParaRPr lang="en-US" sz="1050" dirty="0"/>
          </a:p>
        </p:txBody>
      </p:sp>
      <p:sp>
        <p:nvSpPr>
          <p:cNvPr id="46" name="Shape 38"/>
          <p:cNvSpPr/>
          <p:nvPr/>
        </p:nvSpPr>
        <p:spPr>
          <a:xfrm>
            <a:off x="2798064" y="3954780"/>
            <a:ext cx="2112264" cy="230886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7" name="Shape 39"/>
          <p:cNvSpPr/>
          <p:nvPr/>
        </p:nvSpPr>
        <p:spPr>
          <a:xfrm>
            <a:off x="2907792" y="4064508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35808" y="4192524"/>
            <a:ext cx="384048" cy="384048"/>
          </a:xfrm>
          <a:prstGeom prst="rect">
            <a:avLst/>
          </a:prstGeom>
        </p:spPr>
      </p:pic>
      <p:sp>
        <p:nvSpPr>
          <p:cNvPr id="49" name="Text 40"/>
          <p:cNvSpPr txBox="1"/>
          <p:nvPr/>
        </p:nvSpPr>
        <p:spPr>
          <a:xfrm>
            <a:off x="3639312" y="4046220"/>
            <a:ext cx="1179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monoxide alarm</a:t>
            </a:r>
            <a:endParaRPr lang="en-US" sz="1200" dirty="0"/>
          </a:p>
        </p:txBody>
      </p:sp>
      <p:sp>
        <p:nvSpPr>
          <p:cNvPr id="50" name="Text 41"/>
          <p:cNvSpPr txBox="1"/>
          <p:nvPr/>
        </p:nvSpPr>
        <p:spPr>
          <a:xfrm>
            <a:off x="2907792" y="4796028"/>
            <a:ext cx="1892808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Kidde KN-COB-B battery alarm, $34 each. Required because of the generator.</a:t>
            </a:r>
            <a:endParaRPr lang="en-US" sz="1050" dirty="0"/>
          </a:p>
        </p:txBody>
      </p:sp>
      <p:sp>
        <p:nvSpPr>
          <p:cNvPr id="51" name="Text 42"/>
          <p:cNvSpPr txBox="1"/>
          <p:nvPr/>
        </p:nvSpPr>
        <p:spPr>
          <a:xfrm>
            <a:off x="2907792" y="5458968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 / $34 / $68</a:t>
            </a:r>
            <a:endParaRPr lang="en-US" sz="1300" dirty="0"/>
          </a:p>
        </p:txBody>
      </p:sp>
      <p:sp>
        <p:nvSpPr>
          <p:cNvPr id="52" name="Text 43"/>
          <p:cNvSpPr txBox="1"/>
          <p:nvPr/>
        </p:nvSpPr>
        <p:spPr>
          <a:xfrm>
            <a:off x="2907792" y="5916168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2A78D6"/>
                </a:solidFill>
                <a:uFill>
                  <a:solidFill>
                    <a:srgbClr val="2A78D6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  <a:hlinkClick r:id="rId14" invalidUrl="" action="" tgtFrame="" tooltip="https://electricbargainstores.com/products/kidde-kn-cob-b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Electric Bargain Stores</a:t>
            </a:r>
            <a:endParaRPr lang="en-US" sz="1050" dirty="0"/>
          </a:p>
        </p:txBody>
      </p:sp>
      <p:sp>
        <p:nvSpPr>
          <p:cNvPr id="53" name="Shape 44"/>
          <p:cNvSpPr/>
          <p:nvPr/>
        </p:nvSpPr>
        <p:spPr>
          <a:xfrm>
            <a:off x="5047488" y="3954780"/>
            <a:ext cx="2112264" cy="230886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4" name="Shape 45"/>
          <p:cNvSpPr/>
          <p:nvPr/>
        </p:nvSpPr>
        <p:spPr>
          <a:xfrm>
            <a:off x="5157216" y="4064508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85232" y="4192524"/>
            <a:ext cx="384048" cy="384048"/>
          </a:xfrm>
          <a:prstGeom prst="rect">
            <a:avLst/>
          </a:prstGeom>
        </p:spPr>
      </p:pic>
      <p:sp>
        <p:nvSpPr>
          <p:cNvPr id="56" name="Text 46"/>
          <p:cNvSpPr txBox="1"/>
          <p:nvPr/>
        </p:nvSpPr>
        <p:spPr>
          <a:xfrm>
            <a:off x="5888736" y="4046220"/>
            <a:ext cx="1179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aid kit, 118-piece</a:t>
            </a:r>
            <a:endParaRPr lang="en-US" sz="1200" dirty="0"/>
          </a:p>
        </p:txBody>
      </p:sp>
      <p:sp>
        <p:nvSpPr>
          <p:cNvPr id="57" name="Text 47"/>
          <p:cNvSpPr txBox="1"/>
          <p:nvPr/>
        </p:nvSpPr>
        <p:spPr>
          <a:xfrm>
            <a:off x="5157216" y="4796028"/>
            <a:ext cx="1892808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3M OSHA/ANSI compliant. Was out of stock when checked.</a:t>
            </a:r>
            <a:endParaRPr lang="en-US" sz="1050" dirty="0"/>
          </a:p>
        </p:txBody>
      </p:sp>
      <p:sp>
        <p:nvSpPr>
          <p:cNvPr id="58" name="Text 48"/>
          <p:cNvSpPr txBox="1"/>
          <p:nvPr/>
        </p:nvSpPr>
        <p:spPr>
          <a:xfrm>
            <a:off x="5157216" y="5458968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</a:t>
            </a:r>
            <a:endParaRPr lang="en-US" sz="1500" dirty="0"/>
          </a:p>
        </p:txBody>
      </p:sp>
      <p:sp>
        <p:nvSpPr>
          <p:cNvPr id="59" name="Text 49"/>
          <p:cNvSpPr txBox="1"/>
          <p:nvPr/>
        </p:nvSpPr>
        <p:spPr>
          <a:xfrm>
            <a:off x="5157216" y="5916168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2A78D6"/>
                </a:solidFill>
                <a:uFill>
                  <a:solidFill>
                    <a:srgbClr val="2A78D6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  <a:hlinkClick r:id="rId16" invalidUrl="" action="" tgtFrame="" tooltip="https://www.walmart.com/ip/3M-Industrical-Construction-First-Aid-Kit-118-Pieces-OSHA-ANSI-Compliant/23086447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Walmart</a:t>
            </a:r>
            <a:endParaRPr lang="en-US" sz="1050" dirty="0"/>
          </a:p>
        </p:txBody>
      </p:sp>
      <p:sp>
        <p:nvSpPr>
          <p:cNvPr id="60" name="Shape 50"/>
          <p:cNvSpPr/>
          <p:nvPr/>
        </p:nvSpPr>
        <p:spPr>
          <a:xfrm>
            <a:off x="7296912" y="3954780"/>
            <a:ext cx="2112264" cy="230886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1" name="Shape 51"/>
          <p:cNvSpPr/>
          <p:nvPr/>
        </p:nvSpPr>
        <p:spPr>
          <a:xfrm>
            <a:off x="7406640" y="4064508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62" name="Image 8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534656" y="4192524"/>
            <a:ext cx="384048" cy="384048"/>
          </a:xfrm>
          <a:prstGeom prst="rect">
            <a:avLst/>
          </a:prstGeom>
        </p:spPr>
      </p:pic>
      <p:sp>
        <p:nvSpPr>
          <p:cNvPr id="63" name="Text 52"/>
          <p:cNvSpPr txBox="1"/>
          <p:nvPr/>
        </p:nvSpPr>
        <p:spPr>
          <a:xfrm>
            <a:off x="8138160" y="4046220"/>
            <a:ext cx="1179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cones, 18 in (set of 4)</a:t>
            </a:r>
            <a:endParaRPr lang="en-US" sz="1200" dirty="0"/>
          </a:p>
        </p:txBody>
      </p:sp>
      <p:sp>
        <p:nvSpPr>
          <p:cNvPr id="64" name="Text 53"/>
          <p:cNvSpPr txBox="1"/>
          <p:nvPr/>
        </p:nvSpPr>
        <p:spPr>
          <a:xfrm>
            <a:off x="7406640" y="4796028"/>
            <a:ext cx="1892808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is an estimate; no store price was found.</a:t>
            </a:r>
            <a:endParaRPr lang="en-US" sz="1050" dirty="0"/>
          </a:p>
        </p:txBody>
      </p:sp>
      <p:sp>
        <p:nvSpPr>
          <p:cNvPr id="65" name="Text 54"/>
          <p:cNvSpPr txBox="1"/>
          <p:nvPr/>
        </p:nvSpPr>
        <p:spPr>
          <a:xfrm>
            <a:off x="7406640" y="5458968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 / $30 / $40</a:t>
            </a:r>
            <a:endParaRPr lang="en-US" sz="1300" dirty="0"/>
          </a:p>
        </p:txBody>
      </p:sp>
      <p:sp>
        <p:nvSpPr>
          <p:cNvPr id="66" name="Text 55"/>
          <p:cNvSpPr txBox="1"/>
          <p:nvPr/>
        </p:nvSpPr>
        <p:spPr>
          <a:xfrm>
            <a:off x="7406640" y="5916168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Estimate, not from a store page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E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Chemicals and tools: what to stock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are estimates for concentrates bought by the gallon. Subtotal $660 lean, $955 base, $1,250 full</a:t>
            </a:r>
            <a:endParaRPr lang="en-US" sz="15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68096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1188720"/>
                <a:gridCol w="1188720"/>
                <a:gridCol w="1188720"/>
              </a:tblGrid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 wash soap concentrate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Wheel and tire cleaner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Degreaser and all-purpose cleaner, 2 gal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Interior cleaner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Glass cleaner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Leather cleaner and conditioner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Upholstery and carpet extraction shampoo, 2 gal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Tire dressing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Clay bar kit and lubricant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Spray sealant or wax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Odor eliminator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Spray bottles, sprayers and labels (about 12)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Dual-action polisher and pads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 brushes, drill brushes and applicators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503920" y="1463040"/>
            <a:ext cx="3154680" cy="480060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686800" y="164592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4816" y="1773936"/>
            <a:ext cx="384048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464040" y="1645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buy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8686800" y="2468880"/>
            <a:ext cx="2834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u="sng" dirty="0">
                <a:solidFill>
                  <a:srgbClr val="2A78D6"/>
                </a:solidFill>
                <a:uFill>
                  <a:solidFill>
                    <a:srgbClr val="2A78D6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Detail King exterior chemicals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16 oz bottles run $10.95 to $18.95. Concentrates diluted at the label ratio cost far less per use.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the gallon concentrates for the high-use items (soap, degreaser, all-purpose, extraction shampoo).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E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Storage, towels and consumables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 $438 lean, $551 base, $706 full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112264" cy="230886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618488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6B7A8C"/>
          </a:solidFill>
          <a:ln w="12700">
            <a:solidFill>
              <a:srgbClr val="6B7A8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746504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89888" y="1600200"/>
            <a:ext cx="1179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shelving 36x14x72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2350008"/>
            <a:ext cx="1892808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Basics 5-shelf, 300 lb per shelf, for bulk chemicals.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3012948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$78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3470148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(from the blueprint ledger)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798064" y="1508760"/>
            <a:ext cx="2112264" cy="230886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07792" y="1618488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808" y="1746504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639312" y="1600200"/>
            <a:ext cx="1179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Wall-mount jug racks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2907792" y="2350008"/>
            <a:ext cx="1892808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$34.40 each. Holds 3 one-gallon jugs. 1, 2 or 3 by scenario.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2907792" y="3012948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 / $69 / $103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2907792" y="3470148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document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047488" y="1508760"/>
            <a:ext cx="2112264" cy="230886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157216" y="1618488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5232" y="1746504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888736" y="1600200"/>
            <a:ext cx="1179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Spray bottle racks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5157216" y="2350008"/>
            <a:ext cx="1892808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Acrylic or wire wall racks keep bottles upright and ready.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5157216" y="3012948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 / $42 / $42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5157216" y="3470148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document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7296912" y="1508760"/>
            <a:ext cx="2112264" cy="230886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406640" y="1618488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656" y="1746504"/>
            <a:ext cx="384048" cy="384048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8138160" y="1600200"/>
            <a:ext cx="1179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Dirty-towel separator bags (3)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7406640" y="2350008"/>
            <a:ext cx="1892808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$5.95 each. Keeps dirty towels away from clean ones.</a:t>
            </a:r>
            <a:endParaRPr lang="en-US" sz="1050" dirty="0"/>
          </a:p>
        </p:txBody>
      </p:sp>
      <p:sp>
        <p:nvSpPr>
          <p:cNvPr id="30" name="Text 24"/>
          <p:cNvSpPr txBox="1"/>
          <p:nvPr/>
        </p:nvSpPr>
        <p:spPr>
          <a:xfrm>
            <a:off x="7406640" y="3012948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</a:t>
            </a:r>
            <a:endParaRPr lang="en-US" sz="1500" dirty="0"/>
          </a:p>
        </p:txBody>
      </p:sp>
      <p:sp>
        <p:nvSpPr>
          <p:cNvPr id="31" name="Text 25"/>
          <p:cNvSpPr txBox="1"/>
          <p:nvPr/>
        </p:nvSpPr>
        <p:spPr>
          <a:xfrm>
            <a:off x="7406640" y="3470148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Autofiber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9546336" y="1508760"/>
            <a:ext cx="2112264" cy="230886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9656064" y="1618488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4080" y="1746504"/>
            <a:ext cx="384048" cy="384048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10387584" y="1600200"/>
            <a:ext cx="1179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Clean-towel bins (9)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656064" y="2350008"/>
            <a:ext cx="1892808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 to $15 each, one per towel color.</a:t>
            </a:r>
            <a:endParaRPr lang="en-US" sz="1050" dirty="0"/>
          </a:p>
        </p:txBody>
      </p:sp>
      <p:sp>
        <p:nvSpPr>
          <p:cNvPr id="37" name="Text 30"/>
          <p:cNvSpPr txBox="1"/>
          <p:nvPr/>
        </p:nvSpPr>
        <p:spPr>
          <a:xfrm>
            <a:off x="9656064" y="3012948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$72 / $108 / $135</a:t>
            </a:r>
            <a:endParaRPr lang="en-US" sz="13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3470148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document</a:t>
            </a:r>
            <a:endParaRPr lang="en-US" sz="1050" dirty="0"/>
          </a:p>
        </p:txBody>
      </p:sp>
      <p:sp>
        <p:nvSpPr>
          <p:cNvPr id="39" name="Shape 32"/>
          <p:cNvSpPr/>
          <p:nvPr/>
        </p:nvSpPr>
        <p:spPr>
          <a:xfrm>
            <a:off x="548640" y="3954780"/>
            <a:ext cx="2112264" cy="230886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658368" y="4064508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" y="4192524"/>
            <a:ext cx="384048" cy="384048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1389888" y="4046220"/>
            <a:ext cx="1179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microfiber towels (about 70)</a:t>
            </a:r>
            <a:endParaRPr lang="en-US" sz="1200" dirty="0"/>
          </a:p>
        </p:txBody>
      </p:sp>
      <p:sp>
        <p:nvSpPr>
          <p:cNvPr id="43" name="Text 35"/>
          <p:cNvSpPr txBox="1"/>
          <p:nvPr/>
        </p:nvSpPr>
        <p:spPr>
          <a:xfrm>
            <a:off x="658368" y="4796028"/>
            <a:ext cx="1892808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Nine-color system, about 62 to 78 towels.</a:t>
            </a:r>
            <a:endParaRPr lang="en-US" sz="1050" dirty="0"/>
          </a:p>
        </p:txBody>
      </p:sp>
      <p:sp>
        <p:nvSpPr>
          <p:cNvPr id="44" name="Text 36"/>
          <p:cNvSpPr txBox="1"/>
          <p:nvPr/>
        </p:nvSpPr>
        <p:spPr>
          <a:xfrm>
            <a:off x="658368" y="5458968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 / $49 / $78</a:t>
            </a:r>
            <a:endParaRPr lang="en-US" sz="1300" dirty="0"/>
          </a:p>
        </p:txBody>
      </p:sp>
      <p:sp>
        <p:nvSpPr>
          <p:cNvPr id="45" name="Text 37"/>
          <p:cNvSpPr txBox="1"/>
          <p:nvPr/>
        </p:nvSpPr>
        <p:spPr>
          <a:xfrm>
            <a:off x="658368" y="5916168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document</a:t>
            </a:r>
            <a:endParaRPr lang="en-US" sz="1050" dirty="0"/>
          </a:p>
        </p:txBody>
      </p:sp>
      <p:sp>
        <p:nvSpPr>
          <p:cNvPr id="46" name="Shape 38"/>
          <p:cNvSpPr/>
          <p:nvPr/>
        </p:nvSpPr>
        <p:spPr>
          <a:xfrm>
            <a:off x="2798064" y="3954780"/>
            <a:ext cx="2112264" cy="230886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7" name="Shape 39"/>
          <p:cNvSpPr/>
          <p:nvPr/>
        </p:nvSpPr>
        <p:spPr>
          <a:xfrm>
            <a:off x="2907792" y="4064508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6B7A8C"/>
          </a:solidFill>
          <a:ln w="12700">
            <a:solidFill>
              <a:srgbClr val="6B7A8C"/>
            </a:solidFill>
            <a:prstDash val="solid"/>
          </a:ln>
        </p:spPr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35808" y="4192524"/>
            <a:ext cx="384048" cy="384048"/>
          </a:xfrm>
          <a:prstGeom prst="rect">
            <a:avLst/>
          </a:prstGeom>
        </p:spPr>
      </p:pic>
      <p:sp>
        <p:nvSpPr>
          <p:cNvPr id="49" name="Text 40"/>
          <p:cNvSpPr txBox="1"/>
          <p:nvPr/>
        </p:nvSpPr>
        <p:spPr>
          <a:xfrm>
            <a:off x="3639312" y="4046220"/>
            <a:ext cx="1179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Disposable shop towels</a:t>
            </a:r>
            <a:endParaRPr lang="en-US" sz="1200" dirty="0"/>
          </a:p>
        </p:txBody>
      </p:sp>
      <p:sp>
        <p:nvSpPr>
          <p:cNvPr id="50" name="Text 41"/>
          <p:cNvSpPr txBox="1"/>
          <p:nvPr/>
        </p:nvSpPr>
        <p:spPr>
          <a:xfrm>
            <a:off x="2907792" y="4796028"/>
            <a:ext cx="1892808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Scott Shop Towels, $64.99 per case. Used for heavy messes.</a:t>
            </a:r>
            <a:endParaRPr lang="en-US" sz="1050" dirty="0"/>
          </a:p>
        </p:txBody>
      </p:sp>
      <p:sp>
        <p:nvSpPr>
          <p:cNvPr id="51" name="Text 42"/>
          <p:cNvSpPr txBox="1"/>
          <p:nvPr/>
        </p:nvSpPr>
        <p:spPr>
          <a:xfrm>
            <a:off x="2907792" y="5458968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$65 / $65 / $130</a:t>
            </a:r>
            <a:endParaRPr lang="en-US" sz="1300" dirty="0"/>
          </a:p>
        </p:txBody>
      </p:sp>
      <p:sp>
        <p:nvSpPr>
          <p:cNvPr id="52" name="Text 43"/>
          <p:cNvSpPr txBox="1"/>
          <p:nvPr/>
        </p:nvSpPr>
        <p:spPr>
          <a:xfrm>
            <a:off x="2907792" y="5916168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Scott brand</a:t>
            </a:r>
            <a:endParaRPr lang="en-US" sz="1050" dirty="0"/>
          </a:p>
        </p:txBody>
      </p:sp>
      <p:sp>
        <p:nvSpPr>
          <p:cNvPr id="53" name="Shape 44"/>
          <p:cNvSpPr/>
          <p:nvPr/>
        </p:nvSpPr>
        <p:spPr>
          <a:xfrm>
            <a:off x="5047488" y="3954780"/>
            <a:ext cx="2112264" cy="230886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4" name="Shape 45"/>
          <p:cNvSpPr/>
          <p:nvPr/>
        </p:nvSpPr>
        <p:spPr>
          <a:xfrm>
            <a:off x="5157216" y="4064508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85232" y="4192524"/>
            <a:ext cx="384048" cy="384048"/>
          </a:xfrm>
          <a:prstGeom prst="rect">
            <a:avLst/>
          </a:prstGeom>
        </p:spPr>
      </p:pic>
      <p:sp>
        <p:nvSpPr>
          <p:cNvPr id="56" name="Text 46"/>
          <p:cNvSpPr txBox="1"/>
          <p:nvPr/>
        </p:nvSpPr>
        <p:spPr>
          <a:xfrm>
            <a:off x="5888736" y="4046220"/>
            <a:ext cx="1179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Nitrile gloves, XL case of 1,000</a:t>
            </a:r>
            <a:endParaRPr lang="en-US" sz="1200" dirty="0"/>
          </a:p>
        </p:txBody>
      </p:sp>
      <p:sp>
        <p:nvSpPr>
          <p:cNvPr id="57" name="Text 47"/>
          <p:cNvSpPr txBox="1"/>
          <p:nvPr/>
        </p:nvSpPr>
        <p:spPr>
          <a:xfrm>
            <a:off x="5157216" y="4796028"/>
            <a:ext cx="1892808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Single-use gloves for every job.</a:t>
            </a:r>
            <a:endParaRPr lang="en-US" sz="1050" dirty="0"/>
          </a:p>
        </p:txBody>
      </p:sp>
      <p:sp>
        <p:nvSpPr>
          <p:cNvPr id="58" name="Text 48"/>
          <p:cNvSpPr txBox="1"/>
          <p:nvPr/>
        </p:nvSpPr>
        <p:spPr>
          <a:xfrm>
            <a:off x="5157216" y="5458968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$73</a:t>
            </a:r>
            <a:endParaRPr lang="en-US" sz="1500" dirty="0"/>
          </a:p>
        </p:txBody>
      </p:sp>
      <p:sp>
        <p:nvSpPr>
          <p:cNvPr id="59" name="Text 49"/>
          <p:cNvSpPr txBox="1"/>
          <p:nvPr/>
        </p:nvSpPr>
        <p:spPr>
          <a:xfrm>
            <a:off x="5157216" y="5916168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document</a:t>
            </a:r>
            <a:endParaRPr lang="en-US" sz="1050" dirty="0"/>
          </a:p>
        </p:txBody>
      </p:sp>
      <p:sp>
        <p:nvSpPr>
          <p:cNvPr id="60" name="Shape 50"/>
          <p:cNvSpPr/>
          <p:nvPr/>
        </p:nvSpPr>
        <p:spPr>
          <a:xfrm>
            <a:off x="7296912" y="3954780"/>
            <a:ext cx="2112264" cy="230886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1" name="Shape 51"/>
          <p:cNvSpPr/>
          <p:nvPr/>
        </p:nvSpPr>
        <p:spPr>
          <a:xfrm>
            <a:off x="7406640" y="4064508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6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34656" y="4192524"/>
            <a:ext cx="384048" cy="384048"/>
          </a:xfrm>
          <a:prstGeom prst="rect">
            <a:avLst/>
          </a:prstGeom>
        </p:spPr>
      </p:pic>
      <p:sp>
        <p:nvSpPr>
          <p:cNvPr id="63" name="Text 52"/>
          <p:cNvSpPr txBox="1"/>
          <p:nvPr/>
        </p:nvSpPr>
        <p:spPr>
          <a:xfrm>
            <a:off x="8138160" y="4046220"/>
            <a:ext cx="1179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Trash liners, bulk case</a:t>
            </a:r>
            <a:endParaRPr lang="en-US" sz="1200" dirty="0"/>
          </a:p>
        </p:txBody>
      </p:sp>
      <p:sp>
        <p:nvSpPr>
          <p:cNvPr id="64" name="Text 53"/>
          <p:cNvSpPr txBox="1"/>
          <p:nvPr/>
        </p:nvSpPr>
        <p:spPr>
          <a:xfrm>
            <a:off x="7406640" y="4796028"/>
            <a:ext cx="1892808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 rear-door trash-bag roll on a shelf for grab-and-go.</a:t>
            </a:r>
            <a:endParaRPr lang="en-US" sz="1050" dirty="0"/>
          </a:p>
        </p:txBody>
      </p:sp>
      <p:sp>
        <p:nvSpPr>
          <p:cNvPr id="65" name="Text 54"/>
          <p:cNvSpPr txBox="1"/>
          <p:nvPr/>
        </p:nvSpPr>
        <p:spPr>
          <a:xfrm>
            <a:off x="7406640" y="5458968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</a:t>
            </a:r>
            <a:endParaRPr lang="en-US" sz="1500" dirty="0"/>
          </a:p>
        </p:txBody>
      </p:sp>
      <p:sp>
        <p:nvSpPr>
          <p:cNvPr id="66" name="Text 55"/>
          <p:cNvSpPr txBox="1"/>
          <p:nvPr/>
        </p:nvSpPr>
        <p:spPr>
          <a:xfrm>
            <a:off x="7406640" y="5916168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document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E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protective equipment (PPE)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$290 total from the blueprint. Not yet counted in the startup budget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11880" cy="2308860"/>
          </a:xfrm>
          <a:prstGeom prst="roundRect">
            <a:avLst>
              <a:gd name="adj" fmla="val 3168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618488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B2733"/>
          </a:solidFill>
          <a:ln w="12700">
            <a:solidFill>
              <a:srgbClr val="1B273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746504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89888" y="1600200"/>
            <a:ext cx="2679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nitrile gloves, 6 to 9 mil (box of 100)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2350008"/>
            <a:ext cx="3392424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Puncture resistant; shields hands from acid wheel cleaner.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3012948"/>
            <a:ext cx="3392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3470148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price, unverified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297680" y="1508760"/>
            <a:ext cx="3611880" cy="2308860"/>
          </a:xfrm>
          <a:prstGeom prst="roundRect">
            <a:avLst>
              <a:gd name="adj" fmla="val 3168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07408" y="1618488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5424" y="1746504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138928" y="1600200"/>
            <a:ext cx="2679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Anti-fog UV safety glasses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4407408" y="2350008"/>
            <a:ext cx="3392424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grade.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4407408" y="3012948"/>
            <a:ext cx="3392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4407408" y="3470148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price, unverified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046720" y="1508760"/>
            <a:ext cx="3611880" cy="2308860"/>
          </a:xfrm>
          <a:prstGeom prst="roundRect">
            <a:avLst>
              <a:gd name="adj" fmla="val 3168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156448" y="1618488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4" y="1746504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887968" y="1600200"/>
            <a:ext cx="2679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N95 / half-face respirator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8156448" y="2350008"/>
            <a:ext cx="3392424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blow-outs and carpet extraction spraying.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8156448" y="3012948"/>
            <a:ext cx="3392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8156448" y="3470148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price, unverified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548640" y="3954780"/>
            <a:ext cx="3611880" cy="2308860"/>
          </a:xfrm>
          <a:prstGeom prst="roundRect">
            <a:avLst>
              <a:gd name="adj" fmla="val 3168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58368" y="4064508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4192524"/>
            <a:ext cx="384048" cy="384048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389888" y="4046220"/>
            <a:ext cx="2679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Wide-brim UV sun hat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658368" y="4796028"/>
            <a:ext cx="3392424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protection for long outdoor days.</a:t>
            </a:r>
            <a:endParaRPr lang="en-US" sz="1050" dirty="0"/>
          </a:p>
        </p:txBody>
      </p:sp>
      <p:sp>
        <p:nvSpPr>
          <p:cNvPr id="30" name="Text 24"/>
          <p:cNvSpPr txBox="1"/>
          <p:nvPr/>
        </p:nvSpPr>
        <p:spPr>
          <a:xfrm>
            <a:off x="658368" y="5458968"/>
            <a:ext cx="3392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</a:t>
            </a:r>
            <a:endParaRPr lang="en-US" sz="1500" dirty="0"/>
          </a:p>
        </p:txBody>
      </p:sp>
      <p:sp>
        <p:nvSpPr>
          <p:cNvPr id="31" name="Text 25"/>
          <p:cNvSpPr txBox="1"/>
          <p:nvPr/>
        </p:nvSpPr>
        <p:spPr>
          <a:xfrm>
            <a:off x="658368" y="5916168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price, unverified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4297680" y="3954780"/>
            <a:ext cx="3611880" cy="2308860"/>
          </a:xfrm>
          <a:prstGeom prst="roundRect">
            <a:avLst>
              <a:gd name="adj" fmla="val 3168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4407408" y="4064508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5424" y="4192524"/>
            <a:ext cx="384048" cy="384048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5138928" y="4046220"/>
            <a:ext cx="2679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UV-blocking work shirts (5-pack)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4407408" y="4796028"/>
            <a:ext cx="3392424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long sleeve; doubles as a uniform.</a:t>
            </a:r>
            <a:endParaRPr lang="en-US" sz="1050" dirty="0"/>
          </a:p>
        </p:txBody>
      </p:sp>
      <p:sp>
        <p:nvSpPr>
          <p:cNvPr id="37" name="Text 30"/>
          <p:cNvSpPr txBox="1"/>
          <p:nvPr/>
        </p:nvSpPr>
        <p:spPr>
          <a:xfrm>
            <a:off x="4407408" y="5458968"/>
            <a:ext cx="3392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</a:t>
            </a:r>
            <a:endParaRPr lang="en-US" sz="1500" dirty="0"/>
          </a:p>
        </p:txBody>
      </p:sp>
      <p:sp>
        <p:nvSpPr>
          <p:cNvPr id="38" name="Text 31"/>
          <p:cNvSpPr txBox="1"/>
          <p:nvPr/>
        </p:nvSpPr>
        <p:spPr>
          <a:xfrm>
            <a:off x="4407408" y="5916168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price, unverified</a:t>
            </a:r>
            <a:endParaRPr lang="en-US" sz="1050" dirty="0"/>
          </a:p>
        </p:txBody>
      </p:sp>
      <p:sp>
        <p:nvSpPr>
          <p:cNvPr id="39" name="Shape 32"/>
          <p:cNvSpPr/>
          <p:nvPr/>
        </p:nvSpPr>
        <p:spPr>
          <a:xfrm>
            <a:off x="8046720" y="3954780"/>
            <a:ext cx="3611880" cy="2308860"/>
          </a:xfrm>
          <a:prstGeom prst="roundRect">
            <a:avLst>
              <a:gd name="adj" fmla="val 3168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8156448" y="4064508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4464" y="4192524"/>
            <a:ext cx="384048" cy="384048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8887968" y="4046220"/>
            <a:ext cx="2679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Water-resistant steel-toe work boots</a:t>
            </a:r>
            <a:endParaRPr lang="en-US" sz="1200" dirty="0"/>
          </a:p>
        </p:txBody>
      </p:sp>
      <p:sp>
        <p:nvSpPr>
          <p:cNvPr id="43" name="Text 35"/>
          <p:cNvSpPr txBox="1"/>
          <p:nvPr/>
        </p:nvSpPr>
        <p:spPr>
          <a:xfrm>
            <a:off x="8156448" y="4796028"/>
            <a:ext cx="3392424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Heavy-duty detailing boots.</a:t>
            </a:r>
            <a:endParaRPr lang="en-US" sz="1050" dirty="0"/>
          </a:p>
        </p:txBody>
      </p:sp>
      <p:sp>
        <p:nvSpPr>
          <p:cNvPr id="44" name="Text 36"/>
          <p:cNvSpPr txBox="1"/>
          <p:nvPr/>
        </p:nvSpPr>
        <p:spPr>
          <a:xfrm>
            <a:off x="8156448" y="5458968"/>
            <a:ext cx="3392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$110</a:t>
            </a:r>
            <a:endParaRPr lang="en-US" sz="1500" dirty="0"/>
          </a:p>
        </p:txBody>
      </p:sp>
      <p:sp>
        <p:nvSpPr>
          <p:cNvPr id="45" name="Text 37"/>
          <p:cNvSpPr txBox="1"/>
          <p:nvPr/>
        </p:nvSpPr>
        <p:spPr>
          <a:xfrm>
            <a:off x="8156448" y="5916168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price, unverified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E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build: the blueprint's budget rig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$3,625 + supplies $593 + PPE $290 = $4,508. Prices are the blueprint's and are unverified</a:t>
            </a:r>
            <a:endParaRPr lang="en-US" sz="15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585216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128016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100-gal baffled poly water tank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12V on-demand water pump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4000W inverter generator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 pressure washer, 2.5 to 3 GPM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Steel hose reel, 100 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Wall-mount wet/dry vac, 4 to 5 HP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Quiet air compressor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Heated carpet extractor (Mytee Lite 8070)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Vapor steam cleaner (Vapamore MR-100)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$3,625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508760"/>
          <a:ext cx="498348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14300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Supplies and tools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Tolco 32 oz spray bottles (12)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Microfiber towels, 100-count 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16-gal trash cans (2)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3-mil contractor trash bags (100)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Tornador blow-out air tool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Clay bars and lubricant kit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Dual-action paint polisher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6675120" y="5212080"/>
            <a:ext cx="4983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>
            <a:off x="6858000" y="5230368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blueprint list skips the wastewater kit and most safety gear (fire extinguisher, CO alarm, first aid). Add those from the Premium slides before the first job.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E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buy, and in what order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the plan's ordering steps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109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55648"/>
            <a:ext cx="548640" cy="54864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556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6002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van arrives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160020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Wastewater kit, generator, pressure washer, water tank, foam cannon, hose reels, ramp and the safety gear (extinguishers, CO alarm, first aid, GFCI cords, cones).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11109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852928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8529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26974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build-out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69748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E-track tie-downs, isolators, rear shelf, shelving, jug and bottle racks, towel bins, and the rear-door shelves for grab-and-go bottles and the trash-bag roll.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11109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950208"/>
            <a:ext cx="548640" cy="54864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950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7947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test runs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26280" y="379476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Chemicals, towels, brushes, polisher, gloves, liners and PPE, so every practice job uses the real kit.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846320"/>
            <a:ext cx="11109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5047488"/>
            <a:ext cx="548640" cy="54864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5047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489204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extraction demand appears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526280" y="489204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Mytee HP120 heated extractor ($2,258). The plan says to hold this purchase if cash is tight.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94360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Pre-sell first: a waitlist of 15 to 20 people with a $25 deposit brings in cash before you spend on equipment.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E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Assumptions and sources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sits behind the numbers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8640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assumptions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03120"/>
            <a:ext cx="50292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4.33 weeks per month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job: 8% materials, 2.9% card fees, $9 fuel and wear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Helper: $17/hr, 2.5 hrs, plus 10% payroll cost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costs $880 a month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ticket $140 / $175 / $210 (low / base / high)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is before owner pay and income tax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 ($290) not yet in the budget table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508760"/>
            <a:ext cx="548640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0" y="1645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103120"/>
            <a:ext cx="50292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pricing: Dultmeier, Detail King, Home Depot, Do it Best, Kidde, Walmart, Slickdeals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Competitors: published pricing on each company's own site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 licensing: City of Rock Hill, York County, SC Act 176 business license standardization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 sales tax on vehicle cleaning: NC Department of Revenue guidance (rulings are private, so confirm)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Biohazard: OSHA 29 CFR 1910.1030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build: the uploaded equipment blueprint (prices unverified)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E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bile Detailing">
  <a:themeElements>
    <a:clrScheme name="Mobile Detailing">
      <a:dk1>
        <a:srgbClr val="1B2733"/>
      </a:dk1>
      <a:lt1>
        <a:srgbClr val="FFFFFF"/>
      </a:lt1>
      <a:dk2>
        <a:srgbClr val="0B1F33"/>
      </a:dk2>
      <a:lt2>
        <a:srgbClr val="F4F8FB"/>
      </a:lt2>
      <a:accent1>
        <a:srgbClr val="2A78D6"/>
      </a:accent1>
      <a:accent2>
        <a:srgbClr val="EB6834"/>
      </a:accent2>
      <a:accent3>
        <a:srgbClr val="1BAF7A"/>
      </a:accent3>
      <a:accent4>
        <a:srgbClr val="0E7C86"/>
      </a:accent4>
      <a:accent5>
        <a:srgbClr val="F2B33D"/>
      </a:accent5>
      <a:accent6>
        <a:srgbClr val="5F6E7E"/>
      </a:accent6>
      <a:hlink>
        <a:srgbClr val="2A78D6"/>
      </a:hlink>
      <a:folHlink>
        <a:srgbClr val="5F6E7E"/>
      </a:folHlink>
    </a:clrScheme>
    <a:fontScheme name="Mobile Detailing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E&amp;L Services &amp; Sales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Detailing Service: Business Plan &amp; Launch Deck</dc:title>
  <dc:subject>PptxGenJS Presentation</dc:subject>
  <dc:creator>E&amp;L Services &amp; Sales</dc:creator>
  <cp:lastModifiedBy>E&amp;L Services &amp; Sales</cp:lastModifiedBy>
  <cp:revision>1</cp:revision>
  <dcterms:created xsi:type="dcterms:W3CDTF">2026-10-22T01:38:04Z</dcterms:created>
  <dcterms:modified xsi:type="dcterms:W3CDTF">2026-10-22T01:38:04Z</dcterms:modified>
</cp:coreProperties>
</file>